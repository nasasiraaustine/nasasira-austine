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1" r:id="rId6"/>
    <p:sldId id="260" r:id="rId7"/>
    <p:sldId id="262" r:id="rId8"/>
    <p:sldId id="263" r:id="rId9"/>
    <p:sldId id="264" r:id="rId10"/>
    <p:sldId id="275" r:id="rId11"/>
    <p:sldId id="265" r:id="rId12"/>
    <p:sldId id="276" r:id="rId13"/>
    <p:sldId id="277" r:id="rId14"/>
    <p:sldId id="278" r:id="rId15"/>
    <p:sldId id="279" r:id="rId16"/>
    <p:sldId id="280" r:id="rId17"/>
    <p:sldId id="281" r:id="rId18"/>
    <p:sldId id="266" r:id="rId19"/>
    <p:sldId id="267" r:id="rId20"/>
    <p:sldId id="268" r:id="rId21"/>
    <p:sldId id="269" r:id="rId22"/>
    <p:sldId id="274" r:id="rId23"/>
    <p:sldId id="271" r:id="rId24"/>
    <p:sldId id="272" r:id="rId25"/>
    <p:sldId id="273"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504" autoAdjust="0"/>
  </p:normalViewPr>
  <p:slideViewPr>
    <p:cSldViewPr snapToGrid="0">
      <p:cViewPr varScale="1">
        <p:scale>
          <a:sx n="58" d="100"/>
          <a:sy n="58" d="100"/>
        </p:scale>
        <p:origin x="96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9FD5566-FC32-4586-BFD6-12200DF0E7D5}" type="datetimeFigureOut">
              <a:rPr lang="en-US" smtClean="0"/>
              <a:t>9/23/2025</a:t>
            </a:fld>
            <a:endParaRPr lang="en-US" dirty="0"/>
          </a:p>
        </p:txBody>
      </p:sp>
      <p:sp>
        <p:nvSpPr>
          <p:cNvPr id="5" name="Footer Placeholder 4"/>
          <p:cNvSpPr>
            <a:spLocks noGrp="1"/>
          </p:cNvSpPr>
          <p:nvPr>
            <p:ph type="ftr" sz="quarter" idx="11"/>
          </p:nvPr>
        </p:nvSpPr>
        <p:spPr>
          <a:xfrm>
            <a:off x="5332412" y="5883275"/>
            <a:ext cx="4324044" cy="365125"/>
          </a:xfrm>
        </p:spPr>
        <p:txBody>
          <a:bodyPr/>
          <a:lstStyle/>
          <a:p>
            <a:endParaRPr lang="en-US" dirty="0"/>
          </a:p>
        </p:txBody>
      </p:sp>
      <p:sp>
        <p:nvSpPr>
          <p:cNvPr id="6" name="Slide Number Placeholder 5"/>
          <p:cNvSpPr>
            <a:spLocks noGrp="1"/>
          </p:cNvSpPr>
          <p:nvPr>
            <p:ph type="sldNum" sz="quarter" idx="12"/>
          </p:nvPr>
        </p:nvSpPr>
        <p:spPr/>
        <p:txBody>
          <a:bodyPr/>
          <a:lstStyle/>
          <a:p>
            <a:fld id="{729E1183-A901-4829-9969-07E652BB449E}" type="slidenum">
              <a:rPr lang="en-US" smtClean="0"/>
              <a:t>‹#›</a:t>
            </a:fld>
            <a:endParaRPr lang="en-US" dirty="0"/>
          </a:p>
        </p:txBody>
      </p:sp>
    </p:spTree>
    <p:extLst>
      <p:ext uri="{BB962C8B-B14F-4D97-AF65-F5344CB8AC3E}">
        <p14:creationId xmlns:p14="http://schemas.microsoft.com/office/powerpoint/2010/main" val="244783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FD5566-FC32-4586-BFD6-12200DF0E7D5}" type="datetimeFigureOut">
              <a:rPr lang="en-US" smtClean="0"/>
              <a:t>9/23/2025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951856" y="5867131"/>
            <a:ext cx="551167" cy="365125"/>
          </a:xfrm>
        </p:spPr>
        <p:txBody>
          <a:bodyPr/>
          <a:lstStyle/>
          <a:p>
            <a:fld id="{729E1183-A901-4829-9969-07E652BB449E}" type="slidenum">
              <a:rPr lang="en-US" smtClean="0"/>
              <a:t>‹#›</a:t>
            </a:fld>
            <a:endParaRPr lang="en-US" dirty="0"/>
          </a:p>
        </p:txBody>
      </p:sp>
    </p:spTree>
    <p:extLst>
      <p:ext uri="{BB962C8B-B14F-4D97-AF65-F5344CB8AC3E}">
        <p14:creationId xmlns:p14="http://schemas.microsoft.com/office/powerpoint/2010/main" val="4266354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9FD5566-FC32-4586-BFD6-12200DF0E7D5}" type="datetimeFigureOut">
              <a:rPr lang="en-US" smtClean="0"/>
              <a:t>9/23/2025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29E1183-A901-4829-9969-07E652BB449E}" type="slidenum">
              <a:rPr lang="en-US" smtClean="0"/>
              <a:t>‹#›</a:t>
            </a:fld>
            <a:endParaRPr lang="en-US" dirty="0"/>
          </a:p>
        </p:txBody>
      </p:sp>
    </p:spTree>
    <p:extLst>
      <p:ext uri="{BB962C8B-B14F-4D97-AF65-F5344CB8AC3E}">
        <p14:creationId xmlns:p14="http://schemas.microsoft.com/office/powerpoint/2010/main" val="404302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FD5566-FC32-4586-BFD6-12200DF0E7D5}" type="datetimeFigureOut">
              <a:rPr lang="en-US" smtClean="0"/>
              <a:t>9/23/2025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29E1183-A901-4829-9969-07E652BB449E}" type="slidenum">
              <a:rPr lang="en-US" smtClean="0"/>
              <a:t>‹#›</a:t>
            </a:fld>
            <a:endParaRPr lang="en-US" dirty="0"/>
          </a:p>
        </p:txBody>
      </p:sp>
    </p:spTree>
    <p:extLst>
      <p:ext uri="{BB962C8B-B14F-4D97-AF65-F5344CB8AC3E}">
        <p14:creationId xmlns:p14="http://schemas.microsoft.com/office/powerpoint/2010/main" val="2556667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9FD5566-FC32-4586-BFD6-12200DF0E7D5}" type="datetimeFigureOut">
              <a:rPr lang="en-US" smtClean="0"/>
              <a:t>9/23/2025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29E1183-A901-4829-9969-07E652BB449E}" type="slidenum">
              <a:rPr lang="en-US" smtClean="0"/>
              <a:t>‹#›</a:t>
            </a:fld>
            <a:endParaRPr lang="en-US" dirty="0"/>
          </a:p>
        </p:txBody>
      </p:sp>
    </p:spTree>
    <p:extLst>
      <p:ext uri="{BB962C8B-B14F-4D97-AF65-F5344CB8AC3E}">
        <p14:creationId xmlns:p14="http://schemas.microsoft.com/office/powerpoint/2010/main" val="37605464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9FD5566-FC32-4586-BFD6-12200DF0E7D5}" type="datetimeFigureOut">
              <a:rPr lang="en-US" smtClean="0"/>
              <a:t>9/23/2025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29E1183-A901-4829-9969-07E652BB449E}" type="slidenum">
              <a:rPr lang="en-US" smtClean="0"/>
              <a:t>‹#›</a:t>
            </a:fld>
            <a:endParaRPr lang="en-US" dirty="0"/>
          </a:p>
        </p:txBody>
      </p:sp>
    </p:spTree>
    <p:extLst>
      <p:ext uri="{BB962C8B-B14F-4D97-AF65-F5344CB8AC3E}">
        <p14:creationId xmlns:p14="http://schemas.microsoft.com/office/powerpoint/2010/main" val="1592996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9FD5566-FC32-4586-BFD6-12200DF0E7D5}" type="datetimeFigureOut">
              <a:rPr lang="en-US" smtClean="0"/>
              <a:t>9/23/2025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29E1183-A901-4829-9969-07E652BB449E}" type="slidenum">
              <a:rPr lang="en-US" smtClean="0"/>
              <a:t>‹#›</a:t>
            </a:fld>
            <a:endParaRPr lang="en-US" dirty="0"/>
          </a:p>
        </p:txBody>
      </p:sp>
    </p:spTree>
    <p:extLst>
      <p:ext uri="{BB962C8B-B14F-4D97-AF65-F5344CB8AC3E}">
        <p14:creationId xmlns:p14="http://schemas.microsoft.com/office/powerpoint/2010/main" val="13883785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9FD5566-FC32-4586-BFD6-12200DF0E7D5}" type="datetimeFigureOut">
              <a:rPr lang="en-US" smtClean="0"/>
              <a:t>9/23/2025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29E1183-A901-4829-9969-07E652BB449E}" type="slidenum">
              <a:rPr lang="en-US" smtClean="0"/>
              <a:t>‹#›</a:t>
            </a:fld>
            <a:endParaRPr lang="en-US" dirty="0"/>
          </a:p>
        </p:txBody>
      </p:sp>
    </p:spTree>
    <p:extLst>
      <p:ext uri="{BB962C8B-B14F-4D97-AF65-F5344CB8AC3E}">
        <p14:creationId xmlns:p14="http://schemas.microsoft.com/office/powerpoint/2010/main" val="33148478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9FD5566-FC32-4586-BFD6-12200DF0E7D5}" type="datetimeFigureOut">
              <a:rPr lang="en-US" smtClean="0"/>
              <a:t>9/23/2025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29E1183-A901-4829-9969-07E652BB449E}" type="slidenum">
              <a:rPr lang="en-US" smtClean="0"/>
              <a:t>‹#›</a:t>
            </a:fld>
            <a:endParaRPr lang="en-US" dirty="0"/>
          </a:p>
        </p:txBody>
      </p:sp>
    </p:spTree>
    <p:extLst>
      <p:ext uri="{BB962C8B-B14F-4D97-AF65-F5344CB8AC3E}">
        <p14:creationId xmlns:p14="http://schemas.microsoft.com/office/powerpoint/2010/main" val="1801206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9FD5566-FC32-4586-BFD6-12200DF0E7D5}" type="datetimeFigureOut">
              <a:rPr lang="en-US" smtClean="0"/>
              <a:t>9/23/2025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29E1183-A901-4829-9969-07E652BB449E}" type="slidenum">
              <a:rPr lang="en-US" smtClean="0"/>
              <a:t>‹#›</a:t>
            </a:fld>
            <a:endParaRPr lang="en-US" dirty="0"/>
          </a:p>
        </p:txBody>
      </p:sp>
    </p:spTree>
    <p:extLst>
      <p:ext uri="{BB962C8B-B14F-4D97-AF65-F5344CB8AC3E}">
        <p14:creationId xmlns:p14="http://schemas.microsoft.com/office/powerpoint/2010/main" val="11061206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9FD5566-FC32-4586-BFD6-12200DF0E7D5}" type="datetimeFigureOut">
              <a:rPr lang="en-US" smtClean="0"/>
              <a:t>9/23/2025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29E1183-A901-4829-9969-07E652BB449E}" type="slidenum">
              <a:rPr lang="en-US" smtClean="0"/>
              <a:t>‹#›</a:t>
            </a:fld>
            <a:endParaRPr lang="en-US" dirty="0"/>
          </a:p>
        </p:txBody>
      </p:sp>
    </p:spTree>
    <p:extLst>
      <p:ext uri="{BB962C8B-B14F-4D97-AF65-F5344CB8AC3E}">
        <p14:creationId xmlns:p14="http://schemas.microsoft.com/office/powerpoint/2010/main" val="5109702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9FD5566-FC32-4586-BFD6-12200DF0E7D5}" type="datetimeFigureOut">
              <a:rPr lang="en-US" smtClean="0"/>
              <a:t>9/23/2025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29E1183-A901-4829-9969-07E652BB449E}" type="slidenum">
              <a:rPr lang="en-US" smtClean="0"/>
              <a:t>‹#›</a:t>
            </a:fld>
            <a:endParaRPr lang="en-US" dirty="0"/>
          </a:p>
        </p:txBody>
      </p:sp>
    </p:spTree>
    <p:extLst>
      <p:ext uri="{BB962C8B-B14F-4D97-AF65-F5344CB8AC3E}">
        <p14:creationId xmlns:p14="http://schemas.microsoft.com/office/powerpoint/2010/main" val="29595701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9FD5566-FC32-4586-BFD6-12200DF0E7D5}" type="datetimeFigureOut">
              <a:rPr lang="en-US" smtClean="0"/>
              <a:t>9/23/2025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29E1183-A901-4829-9969-07E652BB449E}" type="slidenum">
              <a:rPr lang="en-US" smtClean="0"/>
              <a:t>‹#›</a:t>
            </a:fld>
            <a:endParaRPr lang="en-US" dirty="0"/>
          </a:p>
        </p:txBody>
      </p:sp>
    </p:spTree>
    <p:extLst>
      <p:ext uri="{BB962C8B-B14F-4D97-AF65-F5344CB8AC3E}">
        <p14:creationId xmlns:p14="http://schemas.microsoft.com/office/powerpoint/2010/main" val="19290633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9FD5566-FC32-4586-BFD6-12200DF0E7D5}" type="datetimeFigureOut">
              <a:rPr lang="en-US" smtClean="0"/>
              <a:t>9/23/2025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29E1183-A901-4829-9969-07E652BB449E}" type="slidenum">
              <a:rPr lang="en-US" smtClean="0"/>
              <a:t>‹#›</a:t>
            </a:fld>
            <a:endParaRPr lang="en-US" dirty="0"/>
          </a:p>
        </p:txBody>
      </p:sp>
    </p:spTree>
    <p:extLst>
      <p:ext uri="{BB962C8B-B14F-4D97-AF65-F5344CB8AC3E}">
        <p14:creationId xmlns:p14="http://schemas.microsoft.com/office/powerpoint/2010/main" val="35756040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9FD5566-FC32-4586-BFD6-12200DF0E7D5}" type="datetimeFigureOut">
              <a:rPr lang="en-US" smtClean="0"/>
              <a:t>9/23/2025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29E1183-A901-4829-9969-07E652BB449E}" type="slidenum">
              <a:rPr lang="en-US" smtClean="0"/>
              <a:t>‹#›</a:t>
            </a:fld>
            <a:endParaRPr lang="en-US" dirty="0"/>
          </a:p>
        </p:txBody>
      </p:sp>
    </p:spTree>
    <p:extLst>
      <p:ext uri="{BB962C8B-B14F-4D97-AF65-F5344CB8AC3E}">
        <p14:creationId xmlns:p14="http://schemas.microsoft.com/office/powerpoint/2010/main" val="20919028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FD5566-FC32-4586-BFD6-12200DF0E7D5}" type="datetimeFigureOut">
              <a:rPr lang="en-US" smtClean="0"/>
              <a:t>9/23/2025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29E1183-A901-4829-9969-07E652BB449E}" type="slidenum">
              <a:rPr lang="en-US" smtClean="0"/>
              <a:t>‹#›</a:t>
            </a:fld>
            <a:endParaRPr lang="en-US" dirty="0"/>
          </a:p>
        </p:txBody>
      </p:sp>
    </p:spTree>
    <p:extLst>
      <p:ext uri="{BB962C8B-B14F-4D97-AF65-F5344CB8AC3E}">
        <p14:creationId xmlns:p14="http://schemas.microsoft.com/office/powerpoint/2010/main" val="42181386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FD5566-FC32-4586-BFD6-12200DF0E7D5}" type="datetimeFigureOut">
              <a:rPr lang="en-US" smtClean="0"/>
              <a:t>9/23/2025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29E1183-A901-4829-9969-07E652BB449E}" type="slidenum">
              <a:rPr lang="en-US" smtClean="0"/>
              <a:t>‹#›</a:t>
            </a:fld>
            <a:endParaRPr lang="en-US" dirty="0"/>
          </a:p>
        </p:txBody>
      </p:sp>
    </p:spTree>
    <p:extLst>
      <p:ext uri="{BB962C8B-B14F-4D97-AF65-F5344CB8AC3E}">
        <p14:creationId xmlns:p14="http://schemas.microsoft.com/office/powerpoint/2010/main" val="5669671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9FD5566-FC32-4586-BFD6-12200DF0E7D5}" type="datetimeFigureOut">
              <a:rPr lang="en-US" smtClean="0"/>
              <a:t>9/23/2025</a:t>
            </a:fld>
            <a:endParaRPr lang="en-US"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29E1183-A901-4829-9969-07E652BB449E}" type="slidenum">
              <a:rPr lang="en-US" smtClean="0"/>
              <a:t>‹#›</a:t>
            </a:fld>
            <a:endParaRPr lang="en-US" dirty="0"/>
          </a:p>
        </p:txBody>
      </p:sp>
    </p:spTree>
    <p:extLst>
      <p:ext uri="{BB962C8B-B14F-4D97-AF65-F5344CB8AC3E}">
        <p14:creationId xmlns:p14="http://schemas.microsoft.com/office/powerpoint/2010/main" val="2946813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solidFill>
                  <a:srgbClr val="0070C0"/>
                </a:solidFill>
                <a:latin typeface="Times New Roman" panose="02020603050405020304" pitchFamily="18" charset="0"/>
                <a:cs typeface="Times New Roman" panose="02020603050405020304" pitchFamily="18" charset="0"/>
              </a:rPr>
              <a:t>Visualization and Analyzing of Data</a:t>
            </a:r>
          </a:p>
        </p:txBody>
      </p:sp>
      <p:sp>
        <p:nvSpPr>
          <p:cNvPr id="3" name="Subtitle 2"/>
          <p:cNvSpPr>
            <a:spLocks noGrp="1"/>
          </p:cNvSpPr>
          <p:nvPr>
            <p:ph type="subTitle" idx="1"/>
          </p:nvPr>
        </p:nvSpPr>
        <p:spPr/>
        <p:txBody>
          <a:bodyPr/>
          <a:lstStyle/>
          <a:p>
            <a:r>
              <a:rPr lang="en-US" dirty="0">
                <a:solidFill>
                  <a:srgbClr val="0070C0"/>
                </a:solidFill>
                <a:latin typeface="Times New Roman" panose="02020603050405020304" pitchFamily="18" charset="0"/>
                <a:cs typeface="Times New Roman" panose="02020603050405020304" pitchFamily="18" charset="0"/>
              </a:rPr>
              <a:t>Presented By Group 13</a:t>
            </a:r>
          </a:p>
        </p:txBody>
      </p:sp>
    </p:spTree>
    <p:extLst>
      <p:ext uri="{BB962C8B-B14F-4D97-AF65-F5344CB8AC3E}">
        <p14:creationId xmlns:p14="http://schemas.microsoft.com/office/powerpoint/2010/main" val="34809070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566243" y="112889"/>
            <a:ext cx="8924045" cy="1095023"/>
          </a:xfrm>
        </p:spPr>
        <p:txBody>
          <a:bodyPr>
            <a:normAutofit/>
          </a:bodyPr>
          <a:lstStyle/>
          <a:p>
            <a:r>
              <a:rPr lang="en-US" dirty="0"/>
              <a:t>	</a:t>
            </a:r>
            <a:r>
              <a:rPr lang="en-US" dirty="0">
                <a:solidFill>
                  <a:srgbClr val="0070C0"/>
                </a:solidFill>
                <a:latin typeface="Times New Roman" panose="02020603050405020304" pitchFamily="18" charset="0"/>
                <a:cs typeface="Times New Roman" panose="02020603050405020304" pitchFamily="18" charset="0"/>
              </a:rPr>
              <a:t>Members of  Group 13</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223094217"/>
              </p:ext>
            </p:extLst>
          </p:nvPr>
        </p:nvGraphicFramePr>
        <p:xfrm>
          <a:off x="2156178" y="1219199"/>
          <a:ext cx="7540977" cy="4617149"/>
        </p:xfrm>
        <a:graphic>
          <a:graphicData uri="http://schemas.openxmlformats.org/drawingml/2006/table">
            <a:tbl>
              <a:tblPr firstRow="1" firstCol="1" bandRow="1">
                <a:tableStyleId>{5C22544A-7EE6-4342-B048-85BDC9FD1C3A}</a:tableStyleId>
              </a:tblPr>
              <a:tblGrid>
                <a:gridCol w="3497098">
                  <a:extLst>
                    <a:ext uri="{9D8B030D-6E8A-4147-A177-3AD203B41FA5}">
                      <a16:colId xmlns:a16="http://schemas.microsoft.com/office/drawing/2014/main" val="2100530963"/>
                    </a:ext>
                  </a:extLst>
                </a:gridCol>
                <a:gridCol w="1442778">
                  <a:extLst>
                    <a:ext uri="{9D8B030D-6E8A-4147-A177-3AD203B41FA5}">
                      <a16:colId xmlns:a16="http://schemas.microsoft.com/office/drawing/2014/main" val="4285542293"/>
                    </a:ext>
                  </a:extLst>
                </a:gridCol>
                <a:gridCol w="2601101">
                  <a:extLst>
                    <a:ext uri="{9D8B030D-6E8A-4147-A177-3AD203B41FA5}">
                      <a16:colId xmlns:a16="http://schemas.microsoft.com/office/drawing/2014/main" val="2272792668"/>
                    </a:ext>
                  </a:extLst>
                </a:gridCol>
              </a:tblGrid>
              <a:tr h="409479">
                <a:tc>
                  <a:txBody>
                    <a:bodyPr/>
                    <a:lstStyle/>
                    <a:p>
                      <a:pPr marL="0" marR="0" indent="0" algn="just">
                        <a:lnSpc>
                          <a:spcPct val="200000"/>
                        </a:lnSpc>
                        <a:spcBef>
                          <a:spcPts val="0"/>
                        </a:spcBef>
                        <a:spcAft>
                          <a:spcPts val="645"/>
                        </a:spcAft>
                      </a:pPr>
                      <a:r>
                        <a:rPr lang="en-US" sz="1400" kern="100" dirty="0">
                          <a:effectLst/>
                          <a:latin typeface="Times New Roman" panose="02020603050405020304" pitchFamily="18" charset="0"/>
                          <a:cs typeface="Times New Roman" panose="02020603050405020304" pitchFamily="18" charset="0"/>
                        </a:rPr>
                        <a:t>NAME</a:t>
                      </a:r>
                      <a:endPar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200000"/>
                        </a:lnSpc>
                        <a:spcBef>
                          <a:spcPts val="0"/>
                        </a:spcBef>
                        <a:spcAft>
                          <a:spcPts val="645"/>
                        </a:spcAft>
                      </a:pPr>
                      <a:r>
                        <a:rPr lang="en-US" sz="1400" kern="100" dirty="0">
                          <a:effectLst/>
                          <a:latin typeface="Times New Roman" panose="02020603050405020304" pitchFamily="18" charset="0"/>
                          <a:cs typeface="Times New Roman" panose="02020603050405020304" pitchFamily="18" charset="0"/>
                        </a:rPr>
                        <a:t>COURSE</a:t>
                      </a:r>
                      <a:endPar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200000"/>
                        </a:lnSpc>
                        <a:spcBef>
                          <a:spcPts val="0"/>
                        </a:spcBef>
                        <a:spcAft>
                          <a:spcPts val="645"/>
                        </a:spcAft>
                      </a:pPr>
                      <a:r>
                        <a:rPr lang="en-US" sz="1400" kern="100" dirty="0">
                          <a:effectLst/>
                          <a:latin typeface="Times New Roman" panose="02020603050405020304" pitchFamily="18" charset="0"/>
                          <a:cs typeface="Times New Roman" panose="02020603050405020304" pitchFamily="18" charset="0"/>
                        </a:rPr>
                        <a:t>REG. NO.</a:t>
                      </a:r>
                      <a:endPar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655026818"/>
                  </a:ext>
                </a:extLst>
              </a:tr>
              <a:tr h="420767">
                <a:tc>
                  <a:txBody>
                    <a:bodyPr/>
                    <a:lstStyle/>
                    <a:p>
                      <a:pPr marL="0" marR="0" indent="0" algn="ctr">
                        <a:lnSpc>
                          <a:spcPct val="200000"/>
                        </a:lnSpc>
                        <a:spcBef>
                          <a:spcPts val="0"/>
                        </a:spcBef>
                        <a:spcAft>
                          <a:spcPts val="645"/>
                        </a:spcAft>
                      </a:pPr>
                      <a:r>
                        <a:rPr lang="en-US" sz="1200" kern="100" dirty="0">
                          <a:effectLst/>
                          <a:latin typeface="Times New Roman" panose="02020603050405020304" pitchFamily="18" charset="0"/>
                          <a:cs typeface="Times New Roman" panose="02020603050405020304" pitchFamily="18" charset="0"/>
                        </a:rPr>
                        <a:t>NYEMERA ANNA GRACE</a:t>
                      </a:r>
                      <a:endParaRPr lang="en-US"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200000"/>
                        </a:lnSpc>
                        <a:spcBef>
                          <a:spcPts val="0"/>
                        </a:spcBef>
                        <a:spcAft>
                          <a:spcPts val="645"/>
                        </a:spcAft>
                      </a:pPr>
                      <a:r>
                        <a:rPr lang="en-US" sz="1200" kern="100" dirty="0">
                          <a:solidFill>
                            <a:srgbClr val="0070C0"/>
                          </a:solidFill>
                          <a:effectLst/>
                          <a:latin typeface="Times New Roman" panose="02020603050405020304" pitchFamily="18" charset="0"/>
                          <a:cs typeface="Times New Roman" panose="02020603050405020304" pitchFamily="18" charset="0"/>
                        </a:rPr>
                        <a:t>AMI</a:t>
                      </a:r>
                      <a:endParaRPr lang="en-US" sz="1200" kern="10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200000"/>
                        </a:lnSpc>
                        <a:spcBef>
                          <a:spcPts val="0"/>
                        </a:spcBef>
                        <a:spcAft>
                          <a:spcPts val="645"/>
                        </a:spcAft>
                      </a:pPr>
                      <a:r>
                        <a:rPr lang="en-US" sz="1200" kern="100" dirty="0">
                          <a:solidFill>
                            <a:srgbClr val="0070C0"/>
                          </a:solidFill>
                          <a:effectLst/>
                          <a:latin typeface="Times New Roman" panose="02020603050405020304" pitchFamily="18" charset="0"/>
                          <a:cs typeface="Times New Roman" panose="02020603050405020304" pitchFamily="18" charset="0"/>
                        </a:rPr>
                        <a:t>BU/UP/2024/0838</a:t>
                      </a:r>
                      <a:endParaRPr lang="en-US" sz="1200" kern="10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385538035"/>
                  </a:ext>
                </a:extLst>
              </a:tr>
              <a:tr h="420767">
                <a:tc>
                  <a:txBody>
                    <a:bodyPr/>
                    <a:lstStyle/>
                    <a:p>
                      <a:pPr marL="0" marR="0" indent="0" algn="ctr">
                        <a:lnSpc>
                          <a:spcPct val="200000"/>
                        </a:lnSpc>
                        <a:spcBef>
                          <a:spcPts val="0"/>
                        </a:spcBef>
                        <a:spcAft>
                          <a:spcPts val="645"/>
                        </a:spcAft>
                      </a:pPr>
                      <a:r>
                        <a:rPr lang="en-US" sz="1200" kern="100" dirty="0">
                          <a:effectLst/>
                          <a:latin typeface="Times New Roman" panose="02020603050405020304" pitchFamily="18" charset="0"/>
                          <a:cs typeface="Times New Roman" panose="02020603050405020304" pitchFamily="18" charset="0"/>
                        </a:rPr>
                        <a:t>NASASIRA AUSTINE</a:t>
                      </a:r>
                      <a:endParaRPr lang="en-US"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200000"/>
                        </a:lnSpc>
                        <a:spcBef>
                          <a:spcPts val="0"/>
                        </a:spcBef>
                        <a:spcAft>
                          <a:spcPts val="645"/>
                        </a:spcAft>
                      </a:pPr>
                      <a:r>
                        <a:rPr lang="en-US" sz="1200" kern="100" dirty="0">
                          <a:solidFill>
                            <a:srgbClr val="0070C0"/>
                          </a:solidFill>
                          <a:effectLst/>
                          <a:latin typeface="Times New Roman" panose="02020603050405020304" pitchFamily="18" charset="0"/>
                          <a:cs typeface="Times New Roman" panose="02020603050405020304" pitchFamily="18" charset="0"/>
                        </a:rPr>
                        <a:t>WAR</a:t>
                      </a:r>
                      <a:endParaRPr lang="en-US" sz="1200" kern="10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200000"/>
                        </a:lnSpc>
                        <a:spcBef>
                          <a:spcPts val="0"/>
                        </a:spcBef>
                        <a:spcAft>
                          <a:spcPts val="645"/>
                        </a:spcAft>
                      </a:pPr>
                      <a:r>
                        <a:rPr lang="en-US" sz="1200" kern="100" dirty="0">
                          <a:solidFill>
                            <a:srgbClr val="0070C0"/>
                          </a:solidFill>
                          <a:effectLst/>
                          <a:latin typeface="Times New Roman" panose="02020603050405020304" pitchFamily="18" charset="0"/>
                          <a:cs typeface="Times New Roman" panose="02020603050405020304" pitchFamily="18" charset="0"/>
                        </a:rPr>
                        <a:t>BU/UP/2024/1048</a:t>
                      </a:r>
                      <a:endParaRPr lang="en-US" sz="1200" kern="10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971865849"/>
                  </a:ext>
                </a:extLst>
              </a:tr>
              <a:tr h="420767">
                <a:tc>
                  <a:txBody>
                    <a:bodyPr/>
                    <a:lstStyle/>
                    <a:p>
                      <a:pPr marL="0" marR="0" indent="0" algn="ctr">
                        <a:lnSpc>
                          <a:spcPct val="200000"/>
                        </a:lnSpc>
                        <a:spcBef>
                          <a:spcPts val="0"/>
                        </a:spcBef>
                        <a:spcAft>
                          <a:spcPts val="645"/>
                        </a:spcAft>
                      </a:pPr>
                      <a:r>
                        <a:rPr lang="en-US" sz="1200" kern="100" dirty="0">
                          <a:effectLst/>
                          <a:latin typeface="Times New Roman" panose="02020603050405020304" pitchFamily="18" charset="0"/>
                          <a:cs typeface="Times New Roman" panose="02020603050405020304" pitchFamily="18" charset="0"/>
                        </a:rPr>
                        <a:t>BARASA ELVIS</a:t>
                      </a:r>
                      <a:endParaRPr lang="en-US"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200000"/>
                        </a:lnSpc>
                        <a:spcBef>
                          <a:spcPts val="0"/>
                        </a:spcBef>
                        <a:spcAft>
                          <a:spcPts val="645"/>
                        </a:spcAft>
                      </a:pPr>
                      <a:r>
                        <a:rPr lang="en-US" sz="1200" kern="100" dirty="0">
                          <a:solidFill>
                            <a:srgbClr val="0070C0"/>
                          </a:solidFill>
                          <a:effectLst/>
                          <a:latin typeface="Times New Roman" panose="02020603050405020304" pitchFamily="18" charset="0"/>
                          <a:cs typeface="Times New Roman" panose="02020603050405020304" pitchFamily="18" charset="0"/>
                        </a:rPr>
                        <a:t>AMI</a:t>
                      </a:r>
                      <a:endParaRPr lang="en-US" sz="1200" kern="10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200000"/>
                        </a:lnSpc>
                        <a:spcBef>
                          <a:spcPts val="0"/>
                        </a:spcBef>
                        <a:spcAft>
                          <a:spcPts val="645"/>
                        </a:spcAft>
                      </a:pPr>
                      <a:r>
                        <a:rPr lang="en-US" sz="1200" kern="100" dirty="0">
                          <a:solidFill>
                            <a:srgbClr val="0070C0"/>
                          </a:solidFill>
                          <a:effectLst/>
                          <a:latin typeface="Times New Roman" panose="02020603050405020304" pitchFamily="18" charset="0"/>
                          <a:cs typeface="Times New Roman" panose="02020603050405020304" pitchFamily="18" charset="0"/>
                        </a:rPr>
                        <a:t>BU/UP/2024/3817</a:t>
                      </a:r>
                      <a:endParaRPr lang="en-US" sz="1200" kern="10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247772399"/>
                  </a:ext>
                </a:extLst>
              </a:tr>
              <a:tr h="420767">
                <a:tc>
                  <a:txBody>
                    <a:bodyPr/>
                    <a:lstStyle/>
                    <a:p>
                      <a:pPr marL="0" marR="0" indent="0" algn="ctr">
                        <a:lnSpc>
                          <a:spcPct val="200000"/>
                        </a:lnSpc>
                        <a:spcBef>
                          <a:spcPts val="0"/>
                        </a:spcBef>
                        <a:spcAft>
                          <a:spcPts val="645"/>
                        </a:spcAft>
                      </a:pPr>
                      <a:r>
                        <a:rPr lang="en-US" sz="1200" kern="100" dirty="0">
                          <a:effectLst/>
                          <a:latin typeface="Times New Roman" panose="02020603050405020304" pitchFamily="18" charset="0"/>
                          <a:cs typeface="Times New Roman" panose="02020603050405020304" pitchFamily="18" charset="0"/>
                        </a:rPr>
                        <a:t>BRAVO GIFT</a:t>
                      </a:r>
                      <a:endParaRPr lang="en-US"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200000"/>
                        </a:lnSpc>
                        <a:spcBef>
                          <a:spcPts val="0"/>
                        </a:spcBef>
                        <a:spcAft>
                          <a:spcPts val="645"/>
                        </a:spcAft>
                      </a:pPr>
                      <a:r>
                        <a:rPr lang="en-US" sz="1200" kern="100" dirty="0">
                          <a:solidFill>
                            <a:srgbClr val="0070C0"/>
                          </a:solidFill>
                          <a:effectLst/>
                          <a:latin typeface="Times New Roman" panose="02020603050405020304" pitchFamily="18" charset="0"/>
                          <a:cs typeface="Times New Roman" panose="02020603050405020304" pitchFamily="18" charset="0"/>
                        </a:rPr>
                        <a:t>PTI</a:t>
                      </a:r>
                      <a:endParaRPr lang="en-US" sz="1200" kern="10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200000"/>
                        </a:lnSpc>
                        <a:spcBef>
                          <a:spcPts val="0"/>
                        </a:spcBef>
                        <a:spcAft>
                          <a:spcPts val="645"/>
                        </a:spcAft>
                      </a:pPr>
                      <a:r>
                        <a:rPr lang="en-US" sz="1200" kern="100" dirty="0">
                          <a:solidFill>
                            <a:srgbClr val="0070C0"/>
                          </a:solidFill>
                          <a:effectLst/>
                          <a:latin typeface="Times New Roman" panose="02020603050405020304" pitchFamily="18" charset="0"/>
                          <a:cs typeface="Times New Roman" panose="02020603050405020304" pitchFamily="18" charset="0"/>
                        </a:rPr>
                        <a:t>BU/UG/2024/5059</a:t>
                      </a:r>
                      <a:endParaRPr lang="en-US" sz="1200" kern="10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935506166"/>
                  </a:ext>
                </a:extLst>
              </a:tr>
              <a:tr h="420767">
                <a:tc>
                  <a:txBody>
                    <a:bodyPr/>
                    <a:lstStyle/>
                    <a:p>
                      <a:pPr marL="0" marR="0" indent="0" algn="ctr">
                        <a:lnSpc>
                          <a:spcPct val="200000"/>
                        </a:lnSpc>
                        <a:spcBef>
                          <a:spcPts val="0"/>
                        </a:spcBef>
                        <a:spcAft>
                          <a:spcPts val="645"/>
                        </a:spcAft>
                      </a:pPr>
                      <a:r>
                        <a:rPr lang="en-US" sz="1200" kern="100" dirty="0">
                          <a:effectLst/>
                          <a:latin typeface="Times New Roman" panose="02020603050405020304" pitchFamily="18" charset="0"/>
                          <a:cs typeface="Times New Roman" panose="02020603050405020304" pitchFamily="18" charset="0"/>
                        </a:rPr>
                        <a:t>NAMUWAWU PATRICIA</a:t>
                      </a:r>
                      <a:endParaRPr lang="en-US"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200000"/>
                        </a:lnSpc>
                        <a:spcBef>
                          <a:spcPts val="0"/>
                        </a:spcBef>
                        <a:spcAft>
                          <a:spcPts val="645"/>
                        </a:spcAft>
                      </a:pPr>
                      <a:r>
                        <a:rPr lang="en-US" sz="1200" kern="100" dirty="0">
                          <a:solidFill>
                            <a:srgbClr val="0070C0"/>
                          </a:solidFill>
                          <a:effectLst/>
                          <a:latin typeface="Times New Roman" panose="02020603050405020304" pitchFamily="18" charset="0"/>
                          <a:cs typeface="Times New Roman" panose="02020603050405020304" pitchFamily="18" charset="0"/>
                        </a:rPr>
                        <a:t>APE</a:t>
                      </a:r>
                      <a:endParaRPr lang="en-US" sz="1200" kern="10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200000"/>
                        </a:lnSpc>
                        <a:spcBef>
                          <a:spcPts val="0"/>
                        </a:spcBef>
                        <a:spcAft>
                          <a:spcPts val="645"/>
                        </a:spcAft>
                      </a:pPr>
                      <a:r>
                        <a:rPr lang="en-US" sz="1200" kern="100" dirty="0">
                          <a:solidFill>
                            <a:srgbClr val="0070C0"/>
                          </a:solidFill>
                          <a:effectLst/>
                          <a:latin typeface="Times New Roman" panose="02020603050405020304" pitchFamily="18" charset="0"/>
                          <a:cs typeface="Times New Roman" panose="02020603050405020304" pitchFamily="18" charset="0"/>
                        </a:rPr>
                        <a:t>BU/UG/2024/2670</a:t>
                      </a:r>
                      <a:endParaRPr lang="en-US" sz="1200" kern="10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126042315"/>
                  </a:ext>
                </a:extLst>
              </a:tr>
              <a:tr h="420767">
                <a:tc>
                  <a:txBody>
                    <a:bodyPr/>
                    <a:lstStyle/>
                    <a:p>
                      <a:pPr marL="0" marR="0" indent="0" algn="ctr">
                        <a:lnSpc>
                          <a:spcPct val="200000"/>
                        </a:lnSpc>
                        <a:spcBef>
                          <a:spcPts val="0"/>
                        </a:spcBef>
                        <a:spcAft>
                          <a:spcPts val="645"/>
                        </a:spcAft>
                      </a:pPr>
                      <a:r>
                        <a:rPr lang="en-US" sz="1200" kern="100" dirty="0">
                          <a:effectLst/>
                          <a:latin typeface="Times New Roman" panose="02020603050405020304" pitchFamily="18" charset="0"/>
                          <a:cs typeface="Times New Roman" panose="02020603050405020304" pitchFamily="18" charset="0"/>
                        </a:rPr>
                        <a:t>AINAMATSIKO JEREMIAH</a:t>
                      </a:r>
                      <a:endParaRPr lang="en-US"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200000"/>
                        </a:lnSpc>
                        <a:spcBef>
                          <a:spcPts val="0"/>
                        </a:spcBef>
                        <a:spcAft>
                          <a:spcPts val="645"/>
                        </a:spcAft>
                      </a:pPr>
                      <a:r>
                        <a:rPr lang="en-US" sz="1200" kern="100" dirty="0">
                          <a:solidFill>
                            <a:srgbClr val="0070C0"/>
                          </a:solidFill>
                          <a:effectLst/>
                          <a:latin typeface="Times New Roman" panose="02020603050405020304" pitchFamily="18" charset="0"/>
                          <a:cs typeface="Times New Roman" panose="02020603050405020304" pitchFamily="18" charset="0"/>
                        </a:rPr>
                        <a:t>WAR</a:t>
                      </a:r>
                      <a:endParaRPr lang="en-US" sz="1200" kern="10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200000"/>
                        </a:lnSpc>
                        <a:spcBef>
                          <a:spcPts val="0"/>
                        </a:spcBef>
                        <a:spcAft>
                          <a:spcPts val="645"/>
                        </a:spcAft>
                      </a:pPr>
                      <a:r>
                        <a:rPr lang="en-US" sz="1200" kern="100" dirty="0">
                          <a:solidFill>
                            <a:srgbClr val="0070C0"/>
                          </a:solidFill>
                          <a:effectLst/>
                          <a:latin typeface="Times New Roman" panose="02020603050405020304" pitchFamily="18" charset="0"/>
                          <a:cs typeface="Times New Roman" panose="02020603050405020304" pitchFamily="18" charset="0"/>
                        </a:rPr>
                        <a:t>BU/UP/2024/3826</a:t>
                      </a:r>
                      <a:endParaRPr lang="en-US" sz="1200" kern="10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229689687"/>
                  </a:ext>
                </a:extLst>
              </a:tr>
              <a:tr h="420767">
                <a:tc>
                  <a:txBody>
                    <a:bodyPr/>
                    <a:lstStyle/>
                    <a:p>
                      <a:pPr marL="0" marR="0" indent="0" algn="ctr">
                        <a:lnSpc>
                          <a:spcPct val="200000"/>
                        </a:lnSpc>
                        <a:spcBef>
                          <a:spcPts val="0"/>
                        </a:spcBef>
                        <a:spcAft>
                          <a:spcPts val="645"/>
                        </a:spcAft>
                      </a:pPr>
                      <a:r>
                        <a:rPr lang="en-US" sz="1200" kern="100" dirty="0">
                          <a:effectLst/>
                          <a:latin typeface="Times New Roman" panose="02020603050405020304" pitchFamily="18" charset="0"/>
                          <a:cs typeface="Times New Roman" panose="02020603050405020304" pitchFamily="18" charset="0"/>
                        </a:rPr>
                        <a:t>ACHAM LOYCE</a:t>
                      </a:r>
                      <a:endParaRPr lang="en-US"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200000"/>
                        </a:lnSpc>
                        <a:spcBef>
                          <a:spcPts val="0"/>
                        </a:spcBef>
                        <a:spcAft>
                          <a:spcPts val="645"/>
                        </a:spcAft>
                      </a:pPr>
                      <a:r>
                        <a:rPr lang="en-US" sz="1200" kern="100" dirty="0">
                          <a:solidFill>
                            <a:srgbClr val="0070C0"/>
                          </a:solidFill>
                          <a:effectLst/>
                          <a:latin typeface="Times New Roman" panose="02020603050405020304" pitchFamily="18" charset="0"/>
                          <a:cs typeface="Times New Roman" panose="02020603050405020304" pitchFamily="18" charset="0"/>
                        </a:rPr>
                        <a:t>AMI</a:t>
                      </a:r>
                      <a:endParaRPr lang="en-US" sz="1200" kern="10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200000"/>
                        </a:lnSpc>
                        <a:spcBef>
                          <a:spcPts val="0"/>
                        </a:spcBef>
                        <a:spcAft>
                          <a:spcPts val="645"/>
                        </a:spcAft>
                      </a:pPr>
                      <a:r>
                        <a:rPr lang="en-US" sz="1200" kern="100" dirty="0">
                          <a:solidFill>
                            <a:srgbClr val="0070C0"/>
                          </a:solidFill>
                          <a:effectLst/>
                          <a:latin typeface="Times New Roman" panose="02020603050405020304" pitchFamily="18" charset="0"/>
                          <a:cs typeface="Times New Roman" panose="02020603050405020304" pitchFamily="18" charset="0"/>
                        </a:rPr>
                        <a:t>BU/UP/2024/0821</a:t>
                      </a:r>
                      <a:endParaRPr lang="en-US" sz="1200" kern="10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714590518"/>
                  </a:ext>
                </a:extLst>
              </a:tr>
              <a:tr h="420767">
                <a:tc>
                  <a:txBody>
                    <a:bodyPr/>
                    <a:lstStyle/>
                    <a:p>
                      <a:pPr marL="0" marR="0" indent="0" algn="ctr">
                        <a:lnSpc>
                          <a:spcPct val="200000"/>
                        </a:lnSpc>
                        <a:spcBef>
                          <a:spcPts val="0"/>
                        </a:spcBef>
                        <a:spcAft>
                          <a:spcPts val="645"/>
                        </a:spcAft>
                      </a:pPr>
                      <a:r>
                        <a:rPr lang="en-US" sz="1200" kern="100" dirty="0">
                          <a:effectLst/>
                          <a:latin typeface="Times New Roman" panose="02020603050405020304" pitchFamily="18" charset="0"/>
                          <a:cs typeface="Times New Roman" panose="02020603050405020304" pitchFamily="18" charset="0"/>
                        </a:rPr>
                        <a:t>MUGUME MATHIAS</a:t>
                      </a:r>
                      <a:endParaRPr lang="en-US"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200000"/>
                        </a:lnSpc>
                        <a:spcBef>
                          <a:spcPts val="0"/>
                        </a:spcBef>
                        <a:spcAft>
                          <a:spcPts val="645"/>
                        </a:spcAft>
                      </a:pPr>
                      <a:r>
                        <a:rPr lang="en-US" sz="1200" kern="100" dirty="0">
                          <a:solidFill>
                            <a:srgbClr val="0070C0"/>
                          </a:solidFill>
                          <a:effectLst/>
                          <a:latin typeface="Times New Roman" panose="02020603050405020304" pitchFamily="18" charset="0"/>
                          <a:cs typeface="Times New Roman" panose="02020603050405020304" pitchFamily="18" charset="0"/>
                        </a:rPr>
                        <a:t>MEB</a:t>
                      </a:r>
                      <a:endParaRPr lang="en-US" sz="1200" kern="10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200000"/>
                        </a:lnSpc>
                        <a:spcBef>
                          <a:spcPts val="0"/>
                        </a:spcBef>
                        <a:spcAft>
                          <a:spcPts val="645"/>
                        </a:spcAft>
                      </a:pPr>
                      <a:r>
                        <a:rPr lang="en-US" sz="1200" kern="100" dirty="0">
                          <a:solidFill>
                            <a:srgbClr val="0070C0"/>
                          </a:solidFill>
                          <a:effectLst/>
                          <a:latin typeface="Times New Roman" panose="02020603050405020304" pitchFamily="18" charset="0"/>
                          <a:cs typeface="Times New Roman" panose="02020603050405020304" pitchFamily="18" charset="0"/>
                        </a:rPr>
                        <a:t>BU/UP/2024/0983</a:t>
                      </a:r>
                      <a:endParaRPr lang="en-US" sz="1200" kern="10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103904476"/>
                  </a:ext>
                </a:extLst>
              </a:tr>
              <a:tr h="420767">
                <a:tc>
                  <a:txBody>
                    <a:bodyPr/>
                    <a:lstStyle/>
                    <a:p>
                      <a:pPr marL="0" marR="0" indent="0" algn="ctr">
                        <a:lnSpc>
                          <a:spcPct val="200000"/>
                        </a:lnSpc>
                        <a:spcBef>
                          <a:spcPts val="0"/>
                        </a:spcBef>
                        <a:spcAft>
                          <a:spcPts val="645"/>
                        </a:spcAft>
                      </a:pPr>
                      <a:r>
                        <a:rPr lang="en-US" sz="1200" kern="100" dirty="0">
                          <a:effectLst/>
                          <a:latin typeface="Times New Roman" panose="02020603050405020304" pitchFamily="18" charset="0"/>
                          <a:cs typeface="Times New Roman" panose="02020603050405020304" pitchFamily="18" charset="0"/>
                        </a:rPr>
                        <a:t>ABUROT MARTHA</a:t>
                      </a:r>
                      <a:endParaRPr lang="en-US"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200000"/>
                        </a:lnSpc>
                        <a:spcBef>
                          <a:spcPts val="0"/>
                        </a:spcBef>
                        <a:spcAft>
                          <a:spcPts val="645"/>
                        </a:spcAft>
                      </a:pPr>
                      <a:r>
                        <a:rPr lang="en-US" sz="1200" kern="100" dirty="0">
                          <a:solidFill>
                            <a:srgbClr val="0070C0"/>
                          </a:solidFill>
                          <a:effectLst/>
                          <a:latin typeface="Times New Roman" panose="02020603050405020304" pitchFamily="18" charset="0"/>
                          <a:cs typeface="Times New Roman" panose="02020603050405020304" pitchFamily="18" charset="0"/>
                        </a:rPr>
                        <a:t>WAR</a:t>
                      </a:r>
                      <a:endParaRPr lang="en-US" sz="1200" kern="10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200000"/>
                        </a:lnSpc>
                        <a:spcBef>
                          <a:spcPts val="0"/>
                        </a:spcBef>
                        <a:spcAft>
                          <a:spcPts val="645"/>
                        </a:spcAft>
                      </a:pPr>
                      <a:r>
                        <a:rPr lang="en-US" sz="1200" kern="100" dirty="0">
                          <a:solidFill>
                            <a:srgbClr val="0070C0"/>
                          </a:solidFill>
                          <a:effectLst/>
                          <a:latin typeface="Times New Roman" panose="02020603050405020304" pitchFamily="18" charset="0"/>
                          <a:cs typeface="Times New Roman" panose="02020603050405020304" pitchFamily="18" charset="0"/>
                        </a:rPr>
                        <a:t>BU/UP/2024/3823</a:t>
                      </a:r>
                      <a:endParaRPr lang="en-US" sz="1200" kern="10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360297610"/>
                  </a:ext>
                </a:extLst>
              </a:tr>
              <a:tr h="420767">
                <a:tc>
                  <a:txBody>
                    <a:bodyPr/>
                    <a:lstStyle/>
                    <a:p>
                      <a:pPr marL="0" marR="0" indent="0" algn="ctr">
                        <a:lnSpc>
                          <a:spcPct val="200000"/>
                        </a:lnSpc>
                        <a:spcBef>
                          <a:spcPts val="0"/>
                        </a:spcBef>
                        <a:spcAft>
                          <a:spcPts val="645"/>
                        </a:spcAft>
                      </a:pPr>
                      <a:r>
                        <a:rPr lang="en-US" sz="1200" kern="100" dirty="0">
                          <a:effectLst/>
                          <a:latin typeface="Times New Roman" panose="02020603050405020304" pitchFamily="18" charset="0"/>
                          <a:cs typeface="Times New Roman" panose="02020603050405020304" pitchFamily="18" charset="0"/>
                        </a:rPr>
                        <a:t>KINTU GADAFFI</a:t>
                      </a:r>
                      <a:endParaRPr lang="en-US"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200000"/>
                        </a:lnSpc>
                        <a:spcBef>
                          <a:spcPts val="0"/>
                        </a:spcBef>
                        <a:spcAft>
                          <a:spcPts val="645"/>
                        </a:spcAft>
                      </a:pPr>
                      <a:r>
                        <a:rPr lang="en-US" sz="1200" kern="100" dirty="0">
                          <a:solidFill>
                            <a:srgbClr val="0070C0"/>
                          </a:solidFill>
                          <a:effectLst/>
                          <a:latin typeface="Times New Roman" panose="02020603050405020304" pitchFamily="18" charset="0"/>
                          <a:cs typeface="Times New Roman" panose="02020603050405020304" pitchFamily="18" charset="0"/>
                        </a:rPr>
                        <a:t>AMI</a:t>
                      </a:r>
                      <a:endParaRPr lang="en-US" sz="1200" kern="10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200000"/>
                        </a:lnSpc>
                        <a:spcBef>
                          <a:spcPts val="0"/>
                        </a:spcBef>
                        <a:spcAft>
                          <a:spcPts val="645"/>
                        </a:spcAft>
                      </a:pPr>
                      <a:r>
                        <a:rPr lang="en-US" sz="1200" kern="100" dirty="0">
                          <a:solidFill>
                            <a:srgbClr val="0070C0"/>
                          </a:solidFill>
                          <a:effectLst/>
                          <a:latin typeface="Times New Roman" panose="02020603050405020304" pitchFamily="18" charset="0"/>
                          <a:cs typeface="Times New Roman" panose="02020603050405020304" pitchFamily="18" charset="0"/>
                        </a:rPr>
                        <a:t>BU/UP/2024/3734</a:t>
                      </a:r>
                      <a:endParaRPr lang="en-US" sz="1200" kern="10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646917495"/>
                  </a:ext>
                </a:extLst>
              </a:tr>
            </a:tbl>
          </a:graphicData>
        </a:graphic>
      </p:graphicFrame>
    </p:spTree>
    <p:extLst>
      <p:ext uri="{BB962C8B-B14F-4D97-AF65-F5344CB8AC3E}">
        <p14:creationId xmlns:p14="http://schemas.microsoft.com/office/powerpoint/2010/main" val="42481790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70C0"/>
                </a:solidFill>
                <a:latin typeface="Times New Roman" panose="02020603050405020304" pitchFamily="18" charset="0"/>
                <a:cs typeface="Times New Roman" panose="02020603050405020304" pitchFamily="18" charset="0"/>
              </a:rPr>
              <a:t>Background of MATLAB</a:t>
            </a:r>
          </a:p>
        </p:txBody>
      </p:sp>
      <p:sp>
        <p:nvSpPr>
          <p:cNvPr id="3" name="Content Placeholder 2"/>
          <p:cNvSpPr>
            <a:spLocks noGrp="1"/>
          </p:cNvSpPr>
          <p:nvPr>
            <p:ph idx="1"/>
          </p:nvPr>
        </p:nvSpPr>
        <p:spPr/>
        <p:txBody>
          <a:bodyPr/>
          <a:lstStyle/>
          <a:p>
            <a:pPr marL="0" indent="0">
              <a:buNone/>
            </a:pPr>
            <a:r>
              <a:rPr lang="en-US" dirty="0">
                <a:solidFill>
                  <a:srgbClr val="0070C0"/>
                </a:solidFill>
                <a:latin typeface="Times New Roman" panose="02020603050405020304" pitchFamily="18" charset="0"/>
                <a:cs typeface="Times New Roman" panose="02020603050405020304" pitchFamily="18" charset="0"/>
              </a:rPr>
              <a:t>MATLAB stands for matrix Laboratory.</a:t>
            </a:r>
          </a:p>
          <a:p>
            <a:pPr marL="0" indent="0">
              <a:buNone/>
            </a:pPr>
            <a:r>
              <a:rPr lang="en-US" dirty="0">
                <a:solidFill>
                  <a:srgbClr val="0070C0"/>
                </a:solidFill>
                <a:latin typeface="Times New Roman" panose="02020603050405020304" pitchFamily="18" charset="0"/>
                <a:cs typeface="Times New Roman" panose="02020603050405020304" pitchFamily="18" charset="0"/>
              </a:rPr>
              <a:t>It is a high-performance programming language and environment designed primarily for technical computing</a:t>
            </a:r>
          </a:p>
          <a:p>
            <a:pPr marL="0" indent="0">
              <a:buNone/>
            </a:pPr>
            <a:endParaRPr lang="en-US" dirty="0"/>
          </a:p>
        </p:txBody>
      </p:sp>
    </p:spTree>
    <p:extLst>
      <p:ext uri="{BB962C8B-B14F-4D97-AF65-F5344CB8AC3E}">
        <p14:creationId xmlns:p14="http://schemas.microsoft.com/office/powerpoint/2010/main" val="12437279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70C0"/>
                </a:solidFill>
                <a:latin typeface="Times New Roman" panose="02020603050405020304" pitchFamily="18" charset="0"/>
                <a:cs typeface="Times New Roman" panose="02020603050405020304" pitchFamily="18" charset="0"/>
              </a:rPr>
              <a:t>TASK ONE</a:t>
            </a:r>
          </a:p>
        </p:txBody>
      </p:sp>
      <p:sp>
        <p:nvSpPr>
          <p:cNvPr id="3" name="Content Placeholder 2"/>
          <p:cNvSpPr>
            <a:spLocks noGrp="1"/>
          </p:cNvSpPr>
          <p:nvPr>
            <p:ph idx="1"/>
          </p:nvPr>
        </p:nvSpPr>
        <p:spPr/>
        <p:txBody>
          <a:bodyPr>
            <a:normAutofit fontScale="92500" lnSpcReduction="20000"/>
          </a:bodyPr>
          <a:lstStyle/>
          <a:p>
            <a:pPr marL="0" indent="0">
              <a:buNone/>
            </a:pPr>
            <a:r>
              <a:rPr lang="en-US" dirty="0">
                <a:solidFill>
                  <a:srgbClr val="0070C0"/>
                </a:solidFill>
                <a:latin typeface="Times New Roman" panose="02020603050405020304" pitchFamily="18" charset="0"/>
                <a:cs typeface="Times New Roman" panose="02020603050405020304" pitchFamily="18" charset="0"/>
              </a:rPr>
              <a:t>In this task, we were able to obtain a file from Kaggle.com named “</a:t>
            </a:r>
            <a:r>
              <a:rPr lang="en-US" b="1" dirty="0">
                <a:solidFill>
                  <a:srgbClr val="0070C0"/>
                </a:solidFill>
                <a:latin typeface="Times New Roman" panose="02020603050405020304" pitchFamily="18" charset="0"/>
                <a:cs typeface="Times New Roman" panose="02020603050405020304" pitchFamily="18" charset="0"/>
              </a:rPr>
              <a:t>Electric cars dataset</a:t>
            </a:r>
            <a:r>
              <a:rPr lang="en-US" dirty="0">
                <a:solidFill>
                  <a:srgbClr val="0070C0"/>
                </a:solidFill>
                <a:latin typeface="Times New Roman" panose="02020603050405020304" pitchFamily="18" charset="0"/>
                <a:cs typeface="Times New Roman" panose="02020603050405020304" pitchFamily="18" charset="0"/>
              </a:rPr>
              <a:t>” and using this data, we were able to do the following activities</a:t>
            </a:r>
          </a:p>
          <a:p>
            <a:pPr lvl="0"/>
            <a:r>
              <a:rPr lang="en-US" dirty="0">
                <a:solidFill>
                  <a:srgbClr val="0070C0"/>
                </a:solidFill>
                <a:latin typeface="Times New Roman" panose="02020603050405020304" pitchFamily="18" charset="0"/>
                <a:cs typeface="Times New Roman" panose="02020603050405020304" pitchFamily="18" charset="0"/>
              </a:rPr>
              <a:t>Reading the data into MATLAB</a:t>
            </a:r>
          </a:p>
          <a:p>
            <a:pPr lvl="0"/>
            <a:r>
              <a:rPr lang="en-US" dirty="0">
                <a:solidFill>
                  <a:srgbClr val="0070C0"/>
                </a:solidFill>
                <a:latin typeface="Times New Roman" panose="02020603050405020304" pitchFamily="18" charset="0"/>
                <a:cs typeface="Times New Roman" panose="02020603050405020304" pitchFamily="18" charset="0"/>
              </a:rPr>
              <a:t>Creating tables of different years</a:t>
            </a:r>
          </a:p>
          <a:p>
            <a:pPr lvl="0"/>
            <a:r>
              <a:rPr lang="en-US" dirty="0">
                <a:solidFill>
                  <a:srgbClr val="0070C0"/>
                </a:solidFill>
                <a:latin typeface="Times New Roman" panose="02020603050405020304" pitchFamily="18" charset="0"/>
                <a:cs typeface="Times New Roman" panose="02020603050405020304" pitchFamily="18" charset="0"/>
              </a:rPr>
              <a:t>Converting the tables into structural arrays into different worksheets</a:t>
            </a:r>
          </a:p>
          <a:p>
            <a:pPr lvl="0"/>
            <a:r>
              <a:rPr lang="en-US" dirty="0">
                <a:solidFill>
                  <a:srgbClr val="0070C0"/>
                </a:solidFill>
                <a:latin typeface="Times New Roman" panose="02020603050405020304" pitchFamily="18" charset="0"/>
                <a:cs typeface="Times New Roman" panose="02020603050405020304" pitchFamily="18" charset="0"/>
              </a:rPr>
              <a:t>Exporting the data to excel</a:t>
            </a:r>
          </a:p>
          <a:p>
            <a:pPr lvl="0"/>
            <a:r>
              <a:rPr lang="en-US" dirty="0">
                <a:solidFill>
                  <a:srgbClr val="0070C0"/>
                </a:solidFill>
                <a:latin typeface="Times New Roman" panose="02020603050405020304" pitchFamily="18" charset="0"/>
                <a:cs typeface="Times New Roman" panose="02020603050405020304" pitchFamily="18" charset="0"/>
              </a:rPr>
              <a:t>Analyzed data through statistics</a:t>
            </a:r>
          </a:p>
          <a:p>
            <a:pPr lvl="0"/>
            <a:r>
              <a:rPr lang="en-US" dirty="0">
                <a:solidFill>
                  <a:srgbClr val="0070C0"/>
                </a:solidFill>
                <a:latin typeface="Times New Roman" panose="02020603050405020304" pitchFamily="18" charset="0"/>
                <a:cs typeface="Times New Roman" panose="02020603050405020304" pitchFamily="18" charset="0"/>
              </a:rPr>
              <a:t>Visualizing of the data</a:t>
            </a:r>
          </a:p>
        </p:txBody>
      </p:sp>
    </p:spTree>
    <p:extLst>
      <p:ext uri="{BB962C8B-B14F-4D97-AF65-F5344CB8AC3E}">
        <p14:creationId xmlns:p14="http://schemas.microsoft.com/office/powerpoint/2010/main" val="12982777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484311" y="699911"/>
            <a:ext cx="10018713" cy="1365956"/>
          </a:xfrm>
        </p:spPr>
        <p:txBody>
          <a:bodyPr>
            <a:normAutofit/>
          </a:bodyPr>
          <a:lstStyle/>
          <a:p>
            <a:pPr>
              <a:lnSpc>
                <a:spcPct val="107000"/>
              </a:lnSpc>
            </a:pPr>
            <a:r>
              <a:rPr lang="en-US" b="1" kern="100" dirty="0">
                <a:solidFill>
                  <a:srgbClr val="0070C0"/>
                </a:solidFill>
                <a:latin typeface="Times New Roman" panose="02020603050405020304" pitchFamily="18" charset="0"/>
                <a:ea typeface="Times New Roman" panose="02020603050405020304" pitchFamily="18" charset="0"/>
              </a:rPr>
              <a:t>READING THE DATA INTO MATLAB</a:t>
            </a:r>
            <a:endParaRPr lang="en-US" dirty="0"/>
          </a:p>
        </p:txBody>
      </p:sp>
      <p:sp>
        <p:nvSpPr>
          <p:cNvPr id="8" name="Content Placeholder 7"/>
          <p:cNvSpPr>
            <a:spLocks noGrp="1"/>
          </p:cNvSpPr>
          <p:nvPr>
            <p:ph idx="1"/>
          </p:nvPr>
        </p:nvSpPr>
        <p:spPr/>
        <p:txBody>
          <a:bodyPr/>
          <a:lstStyle/>
          <a:p>
            <a:pPr marL="0" indent="0">
              <a:buNone/>
            </a:pPr>
            <a:r>
              <a:rPr lang="en-US" kern="100" dirty="0">
                <a:solidFill>
                  <a:srgbClr val="0070C0"/>
                </a:solidFill>
                <a:latin typeface="Times New Roman" panose="02020603050405020304" pitchFamily="18" charset="0"/>
                <a:ea typeface="Times New Roman" panose="02020603050405020304" pitchFamily="18" charset="0"/>
              </a:rPr>
              <a:t>The code that was used is as follows</a:t>
            </a:r>
            <a:br>
              <a:rPr lang="en-US" kern="100" dirty="0">
                <a:solidFill>
                  <a:srgbClr val="0070C0"/>
                </a:solidFill>
                <a:latin typeface="Times New Roman" panose="02020603050405020304" pitchFamily="18" charset="0"/>
                <a:ea typeface="Times New Roman" panose="02020603050405020304" pitchFamily="18" charset="0"/>
              </a:rPr>
            </a:br>
            <a:r>
              <a:rPr lang="en-US" kern="100" dirty="0">
                <a:solidFill>
                  <a:schemeClr val="accent4">
                    <a:lumMod val="75000"/>
                  </a:schemeClr>
                </a:solidFill>
                <a:latin typeface="Consolas" panose="020B0609020204030204" pitchFamily="49" charset="0"/>
                <a:ea typeface="Times New Roman" panose="02020603050405020304" pitchFamily="18" charset="0"/>
              </a:rPr>
              <a:t>data=readtable("C:\Users\LENOVO\Desktop\Electric cars dataset.xlsx");</a:t>
            </a:r>
            <a:br>
              <a:rPr lang="en-US" kern="100" dirty="0">
                <a:solidFill>
                  <a:schemeClr val="accent4">
                    <a:lumMod val="75000"/>
                  </a:schemeClr>
                </a:solidFill>
                <a:latin typeface="Times New Roman" panose="02020603050405020304" pitchFamily="18" charset="0"/>
                <a:ea typeface="Times New Roman" panose="02020603050405020304" pitchFamily="18" charset="0"/>
              </a:rPr>
            </a:br>
            <a:r>
              <a:rPr lang="en-US" kern="100" dirty="0">
                <a:solidFill>
                  <a:schemeClr val="accent4">
                    <a:lumMod val="75000"/>
                  </a:schemeClr>
                </a:solidFill>
                <a:latin typeface="Consolas" panose="020B0609020204030204" pitchFamily="49" charset="0"/>
                <a:ea typeface="Times New Roman" panose="02020603050405020304" pitchFamily="18" charset="0"/>
              </a:rPr>
              <a:t>disp(data);</a:t>
            </a:r>
            <a:endParaRPr lang="en-US" dirty="0">
              <a:solidFill>
                <a:schemeClr val="accent4">
                  <a:lumMod val="75000"/>
                </a:schemeClr>
              </a:solidFill>
            </a:endParaRPr>
          </a:p>
        </p:txBody>
      </p:sp>
    </p:spTree>
    <p:extLst>
      <p:ext uri="{BB962C8B-B14F-4D97-AF65-F5344CB8AC3E}">
        <p14:creationId xmlns:p14="http://schemas.microsoft.com/office/powerpoint/2010/main" val="12871723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154312" y="2133599"/>
            <a:ext cx="7834489" cy="275204"/>
          </a:xfrm>
          <a:prstGeom prst="rect">
            <a:avLst/>
          </a:prstGeom>
        </p:spPr>
        <p:txBody>
          <a:bodyPr wrap="square">
            <a:spAutoFit/>
          </a:bodyPr>
          <a:lstStyle/>
          <a:p>
            <a:pPr marL="95885" marR="0" indent="5715" algn="just">
              <a:lnSpc>
                <a:spcPct val="106000"/>
              </a:lnSpc>
              <a:spcBef>
                <a:spcPts val="0"/>
              </a:spcBef>
              <a:spcAft>
                <a:spcPts val="700"/>
              </a:spcAft>
            </a:pPr>
            <a:r>
              <a:rPr lang="en-US" sz="1200" kern="100" dirty="0">
                <a:latin typeface="Times New Roman" panose="02020603050405020304" pitchFamily="18" charset="0"/>
                <a:ea typeface="Times New Roman" panose="02020603050405020304" pitchFamily="18" charset="0"/>
              </a:rPr>
              <a:t> </a:t>
            </a:r>
          </a:p>
        </p:txBody>
      </p:sp>
      <p:sp>
        <p:nvSpPr>
          <p:cNvPr id="5" name="Title 4"/>
          <p:cNvSpPr>
            <a:spLocks noGrp="1"/>
          </p:cNvSpPr>
          <p:nvPr>
            <p:ph type="title"/>
          </p:nvPr>
        </p:nvSpPr>
        <p:spPr>
          <a:xfrm>
            <a:off x="1235955" y="1"/>
            <a:ext cx="10018713" cy="1885244"/>
          </a:xfrm>
        </p:spPr>
        <p:txBody>
          <a:bodyPr>
            <a:normAutofit fontScale="90000"/>
          </a:bodyPr>
          <a:lstStyle/>
          <a:p>
            <a:r>
              <a:rPr lang="en-US" b="1" kern="100" dirty="0">
                <a:solidFill>
                  <a:srgbClr val="0070C0"/>
                </a:solidFill>
                <a:latin typeface="Times New Roman" panose="02020603050405020304" pitchFamily="18" charset="0"/>
                <a:ea typeface="Times New Roman" panose="02020603050405020304" pitchFamily="18" charset="0"/>
              </a:rPr>
              <a:t>CREATING TABLES OF DIFFERENT YEARS</a:t>
            </a:r>
            <a:r>
              <a:rPr lang="en-US" kern="100" dirty="0">
                <a:latin typeface="Times New Roman" panose="02020603050405020304" pitchFamily="18" charset="0"/>
                <a:ea typeface="Times New Roman" panose="02020603050405020304" pitchFamily="18" charset="0"/>
              </a:rPr>
              <a:t> </a:t>
            </a:r>
            <a:br>
              <a:rPr lang="en-US" kern="100" dirty="0">
                <a:latin typeface="Times New Roman" panose="02020603050405020304" pitchFamily="18" charset="0"/>
                <a:ea typeface="Times New Roman" panose="02020603050405020304" pitchFamily="18" charset="0"/>
              </a:rPr>
            </a:br>
            <a:endParaRPr lang="en-US" dirty="0"/>
          </a:p>
        </p:txBody>
      </p:sp>
      <p:sp>
        <p:nvSpPr>
          <p:cNvPr id="6" name="Content Placeholder 5"/>
          <p:cNvSpPr>
            <a:spLocks noGrp="1"/>
          </p:cNvSpPr>
          <p:nvPr>
            <p:ph idx="1"/>
          </p:nvPr>
        </p:nvSpPr>
        <p:spPr>
          <a:xfrm>
            <a:off x="1484310" y="1636889"/>
            <a:ext cx="10018713" cy="4154311"/>
          </a:xfrm>
        </p:spPr>
        <p:txBody>
          <a:bodyPr/>
          <a:lstStyle/>
          <a:p>
            <a:pPr marL="0" indent="0">
              <a:buNone/>
            </a:pPr>
            <a:r>
              <a:rPr lang="en-US" kern="100" dirty="0">
                <a:solidFill>
                  <a:srgbClr val="0070C0"/>
                </a:solidFill>
                <a:latin typeface="Consolas" panose="020B0609020204030204" pitchFamily="49" charset="0"/>
                <a:ea typeface="Times New Roman" panose="02020603050405020304" pitchFamily="18" charset="0"/>
              </a:rPr>
              <a:t>After reading the tables from the data set, we created individual tables for different years. for example,</a:t>
            </a:r>
          </a:p>
          <a:p>
            <a:pPr marL="0" indent="0">
              <a:buNone/>
            </a:pPr>
            <a:r>
              <a:rPr lang="en-US" kern="100" dirty="0">
                <a:solidFill>
                  <a:srgbClr val="C00000"/>
                </a:solidFill>
                <a:latin typeface="Consolas" panose="020B0609020204030204" pitchFamily="49" charset="0"/>
                <a:ea typeface="Times New Roman" panose="02020603050405020304" pitchFamily="18" charset="0"/>
              </a:rPr>
              <a:t>Year2015 = data(data.Year == 2015, :);</a:t>
            </a:r>
            <a:br>
              <a:rPr lang="en-US" kern="100" dirty="0">
                <a:solidFill>
                  <a:srgbClr val="C00000"/>
                </a:solidFill>
                <a:latin typeface="Times New Roman" panose="02020603050405020304" pitchFamily="18" charset="0"/>
                <a:ea typeface="Times New Roman" panose="02020603050405020304" pitchFamily="18" charset="0"/>
              </a:rPr>
            </a:br>
            <a:r>
              <a:rPr lang="en-US" kern="100" dirty="0">
                <a:solidFill>
                  <a:srgbClr val="C00000"/>
                </a:solidFill>
                <a:latin typeface="Consolas" panose="020B0609020204030204" pitchFamily="49" charset="0"/>
                <a:ea typeface="Times New Roman" panose="02020603050405020304" pitchFamily="18" charset="0"/>
              </a:rPr>
              <a:t>Year2016 = data(data.Year == 2016, :);</a:t>
            </a:r>
            <a:br>
              <a:rPr lang="en-US" kern="100" dirty="0">
                <a:solidFill>
                  <a:srgbClr val="C00000"/>
                </a:solidFill>
                <a:latin typeface="Times New Roman" panose="02020603050405020304" pitchFamily="18" charset="0"/>
                <a:ea typeface="Times New Roman" panose="02020603050405020304" pitchFamily="18" charset="0"/>
              </a:rPr>
            </a:br>
            <a:r>
              <a:rPr lang="en-US" kern="100" dirty="0">
                <a:solidFill>
                  <a:srgbClr val="C00000"/>
                </a:solidFill>
                <a:latin typeface="Consolas" panose="020B0609020204030204" pitchFamily="49" charset="0"/>
                <a:ea typeface="Times New Roman" panose="02020603050405020304" pitchFamily="18" charset="0"/>
              </a:rPr>
              <a:t>Year2017 = disp(Year2015);</a:t>
            </a:r>
            <a:br>
              <a:rPr lang="en-US" kern="100" dirty="0">
                <a:solidFill>
                  <a:srgbClr val="C00000"/>
                </a:solidFill>
                <a:latin typeface="Times New Roman" panose="02020603050405020304" pitchFamily="18" charset="0"/>
                <a:ea typeface="Times New Roman" panose="02020603050405020304" pitchFamily="18" charset="0"/>
              </a:rPr>
            </a:br>
            <a:r>
              <a:rPr lang="en-US" kern="100" dirty="0">
                <a:solidFill>
                  <a:srgbClr val="C00000"/>
                </a:solidFill>
                <a:latin typeface="Consolas" panose="020B0609020204030204" pitchFamily="49" charset="0"/>
                <a:ea typeface="Times New Roman" panose="02020603050405020304" pitchFamily="18" charset="0"/>
              </a:rPr>
              <a:t>disp(Year2016);</a:t>
            </a:r>
            <a:endParaRPr lang="en-US" dirty="0">
              <a:solidFill>
                <a:srgbClr val="C00000"/>
              </a:solidFill>
            </a:endParaRPr>
          </a:p>
        </p:txBody>
      </p:sp>
    </p:spTree>
    <p:extLst>
      <p:ext uri="{BB962C8B-B14F-4D97-AF65-F5344CB8AC3E}">
        <p14:creationId xmlns:p14="http://schemas.microsoft.com/office/powerpoint/2010/main" val="38869559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948081" y="-510638"/>
            <a:ext cx="2850182" cy="4180114"/>
          </a:xfrm>
        </p:spPr>
        <p:txBody>
          <a:bodyPr>
            <a:normAutofit/>
          </a:bodyPr>
          <a:lstStyle/>
          <a:p>
            <a:r>
              <a:rPr lang="en-US" sz="2700" b="1" kern="100"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CONVERTING THE TABLES INTO STRUCTURAL ARRAYS INTO DIFFERENT WORKSHEETS</a:t>
            </a:r>
            <a:br>
              <a:rPr lang="en-US" b="1" kern="100" dirty="0">
                <a:solidFill>
                  <a:srgbClr val="000000"/>
                </a:solidFill>
                <a:latin typeface="Times New Roman" panose="02020603050405020304" pitchFamily="18" charset="0"/>
                <a:ea typeface="Times New Roman" panose="02020603050405020304" pitchFamily="18" charset="0"/>
              </a:rPr>
            </a:br>
            <a:endParaRPr lang="en-US" dirty="0"/>
          </a:p>
        </p:txBody>
      </p:sp>
      <p:sp>
        <p:nvSpPr>
          <p:cNvPr id="2" name="Content Placeholder 1"/>
          <p:cNvSpPr>
            <a:spLocks noGrp="1"/>
          </p:cNvSpPr>
          <p:nvPr>
            <p:ph idx="1"/>
          </p:nvPr>
        </p:nvSpPr>
        <p:spPr/>
        <p:txBody>
          <a:bodyPr>
            <a:normAutofit fontScale="47500" lnSpcReduction="20000"/>
          </a:bodyPr>
          <a:lstStyle/>
          <a:p>
            <a:pPr marL="0" indent="0">
              <a:buNone/>
            </a:pPr>
            <a:r>
              <a:rPr lang="en-US" dirty="0"/>
              <a:t>struct2015 = table2struct(Year2015);</a:t>
            </a:r>
          </a:p>
          <a:p>
            <a:pPr marL="0" indent="0">
              <a:buNone/>
            </a:pPr>
            <a:r>
              <a:rPr lang="en-US" dirty="0"/>
              <a:t>struct2016 = table2struct(Year2016);</a:t>
            </a:r>
          </a:p>
          <a:p>
            <a:pPr marL="0" indent="0">
              <a:buNone/>
            </a:pPr>
            <a:r>
              <a:rPr lang="en-US" dirty="0"/>
              <a:t>struct2017 = table2struct(Year2017);</a:t>
            </a:r>
          </a:p>
          <a:p>
            <a:pPr marL="0" indent="0">
              <a:buNone/>
            </a:pPr>
            <a:r>
              <a:rPr lang="en-US" dirty="0"/>
              <a:t>struct2018 = table2struct(Year2018);</a:t>
            </a:r>
          </a:p>
          <a:p>
            <a:pPr marL="0" indent="0">
              <a:buNone/>
            </a:pPr>
            <a:r>
              <a:rPr lang="en-US" dirty="0"/>
              <a:t>struct2019 = table2struct(Year2019);</a:t>
            </a:r>
          </a:p>
          <a:p>
            <a:pPr marL="0" indent="0">
              <a:buNone/>
            </a:pPr>
            <a:r>
              <a:rPr lang="en-US" dirty="0"/>
              <a:t>struct2020 = table2struct(Year2020);</a:t>
            </a:r>
          </a:p>
          <a:p>
            <a:pPr marL="0" indent="0">
              <a:buNone/>
            </a:pPr>
            <a:r>
              <a:rPr lang="en-US" dirty="0"/>
              <a:t>struct2021 = table2struct(Year2021);</a:t>
            </a:r>
          </a:p>
          <a:p>
            <a:pPr marL="0" indent="0">
              <a:buNone/>
            </a:pPr>
            <a:r>
              <a:rPr lang="en-US" dirty="0"/>
              <a:t>struct2022 = table2struct(Year2022);</a:t>
            </a:r>
          </a:p>
          <a:p>
            <a:pPr marL="0" indent="0">
              <a:buNone/>
            </a:pPr>
            <a:r>
              <a:rPr lang="en-US" dirty="0"/>
              <a:t>struct2023 = table2struct(Year2023);</a:t>
            </a:r>
          </a:p>
          <a:p>
            <a:pPr marL="0" indent="0">
              <a:buNone/>
            </a:pPr>
            <a:r>
              <a:rPr lang="en-US" dirty="0"/>
              <a:t>struct2024 = table2struct(Year2024);</a:t>
            </a:r>
          </a:p>
          <a:p>
            <a:pPr marL="0" indent="0">
              <a:buNone/>
            </a:pPr>
            <a:r>
              <a:rPr lang="en-US" dirty="0"/>
              <a:t>struct2025 = table2struct(Year2025);</a:t>
            </a:r>
          </a:p>
          <a:p>
            <a:pPr marL="0" indent="0">
              <a:buNone/>
            </a:pPr>
            <a:r>
              <a:rPr lang="en-US" dirty="0"/>
              <a:t>disp(struct2015);</a:t>
            </a:r>
          </a:p>
          <a:p>
            <a:pPr marL="0" indent="0">
              <a:buNone/>
            </a:pPr>
            <a:r>
              <a:rPr lang="en-US" dirty="0"/>
              <a:t>disp(struct2016);</a:t>
            </a:r>
          </a:p>
          <a:p>
            <a:pPr marL="0" indent="0">
              <a:buNone/>
            </a:pPr>
            <a:r>
              <a:rPr lang="en-US" dirty="0"/>
              <a:t>disp(struct2017);</a:t>
            </a:r>
          </a:p>
          <a:p>
            <a:pPr marL="0" indent="0">
              <a:buNone/>
            </a:pPr>
            <a:r>
              <a:rPr lang="en-US" dirty="0"/>
              <a:t>disp(struct2018);</a:t>
            </a:r>
          </a:p>
          <a:p>
            <a:pPr marL="0" indent="0">
              <a:buNone/>
            </a:pPr>
            <a:r>
              <a:rPr lang="en-US" dirty="0"/>
              <a:t>disp(struct2019);</a:t>
            </a:r>
          </a:p>
          <a:p>
            <a:pPr marL="0" indent="0">
              <a:buNone/>
            </a:pPr>
            <a:r>
              <a:rPr lang="en-US" dirty="0"/>
              <a:t>disp(struct2020);</a:t>
            </a:r>
          </a:p>
          <a:p>
            <a:pPr marL="0" indent="0">
              <a:buNone/>
            </a:pPr>
            <a:r>
              <a:rPr lang="en-US" dirty="0"/>
              <a:t>disp(struct2021);</a:t>
            </a:r>
          </a:p>
          <a:p>
            <a:pPr marL="0" indent="0">
              <a:buNone/>
            </a:pPr>
            <a:r>
              <a:rPr lang="en-US" dirty="0"/>
              <a:t>disp(struct2022);</a:t>
            </a:r>
          </a:p>
          <a:p>
            <a:pPr marL="0" indent="0">
              <a:buNone/>
            </a:pPr>
            <a:r>
              <a:rPr lang="en-US" dirty="0"/>
              <a:t>disp(struct2023);</a:t>
            </a:r>
          </a:p>
          <a:p>
            <a:pPr marL="0" indent="0">
              <a:buNone/>
            </a:pPr>
            <a:r>
              <a:rPr lang="en-US" dirty="0"/>
              <a:t>disp(struct2024);</a:t>
            </a:r>
          </a:p>
          <a:p>
            <a:pPr marL="0" indent="0">
              <a:buNone/>
            </a:pPr>
            <a:r>
              <a:rPr lang="en-US" dirty="0"/>
              <a:t>disp(struct2025);</a:t>
            </a:r>
          </a:p>
        </p:txBody>
      </p:sp>
      <p:sp>
        <p:nvSpPr>
          <p:cNvPr id="4" name="Content Placeholder 3"/>
          <p:cNvSpPr>
            <a:spLocks noGrp="1"/>
          </p:cNvSpPr>
          <p:nvPr>
            <p:ph type="body" sz="half" idx="2"/>
          </p:nvPr>
        </p:nvSpPr>
        <p:spPr>
          <a:xfrm>
            <a:off x="1598612" y="3238499"/>
            <a:ext cx="3549121" cy="3190504"/>
          </a:xfrm>
        </p:spPr>
        <p:txBody>
          <a:bodyPr>
            <a:noAutofit/>
          </a:bodyPr>
          <a:lstStyle/>
          <a:p>
            <a:pPr marL="0" indent="0">
              <a:buNone/>
            </a:pPr>
            <a:r>
              <a:rPr lang="en-US" sz="2000" dirty="0">
                <a:solidFill>
                  <a:srgbClr val="0070C0"/>
                </a:solidFill>
                <a:latin typeface="Times New Roman" panose="02020603050405020304" pitchFamily="18" charset="0"/>
                <a:cs typeface="Times New Roman" panose="02020603050405020304" pitchFamily="18" charset="0"/>
              </a:rPr>
              <a:t>When working in MATLAB we convert tables into structured arrays  to gain more flexibility and control over the data .Tables can be limited when dealing with complex irregular data but  Structured arrays can handle these challenges effectively </a:t>
            </a:r>
          </a:p>
        </p:txBody>
      </p:sp>
    </p:spTree>
    <p:extLst>
      <p:ext uri="{BB962C8B-B14F-4D97-AF65-F5344CB8AC3E}">
        <p14:creationId xmlns:p14="http://schemas.microsoft.com/office/powerpoint/2010/main" val="6645704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97955" y="1298222"/>
            <a:ext cx="4391377" cy="214289"/>
          </a:xfrm>
          <a:prstGeom prst="rect">
            <a:avLst/>
          </a:prstGeom>
        </p:spPr>
        <p:txBody>
          <a:bodyPr wrap="square">
            <a:spAutoFit/>
          </a:bodyPr>
          <a:lstStyle/>
          <a:p>
            <a:pPr algn="just">
              <a:lnSpc>
                <a:spcPct val="106000"/>
              </a:lnSpc>
              <a:spcAft>
                <a:spcPts val="700"/>
              </a:spcAft>
            </a:pPr>
            <a:r>
              <a:rPr lang="en-US" sz="800" b="1" kern="100" dirty="0">
                <a:latin typeface="Times New Roman" panose="02020603050405020304" pitchFamily="18" charset="0"/>
                <a:ea typeface="Times New Roman" panose="02020603050405020304" pitchFamily="18" charset="0"/>
              </a:rPr>
              <a:t>  </a:t>
            </a:r>
            <a:endParaRPr lang="en-US" sz="800" kern="100" dirty="0">
              <a:latin typeface="Times New Roman" panose="02020603050405020304" pitchFamily="18" charset="0"/>
              <a:ea typeface="Times New Roman" panose="02020603050405020304" pitchFamily="18" charset="0"/>
            </a:endParaRPr>
          </a:p>
        </p:txBody>
      </p:sp>
      <p:sp>
        <p:nvSpPr>
          <p:cNvPr id="3" name="Title 2"/>
          <p:cNvSpPr>
            <a:spLocks noGrp="1"/>
          </p:cNvSpPr>
          <p:nvPr>
            <p:ph type="title"/>
          </p:nvPr>
        </p:nvSpPr>
        <p:spPr/>
        <p:txBody>
          <a:bodyPr>
            <a:normAutofit fontScale="90000"/>
          </a:bodyPr>
          <a:lstStyle/>
          <a:p>
            <a:pPr>
              <a:lnSpc>
                <a:spcPct val="106000"/>
              </a:lnSpc>
              <a:spcAft>
                <a:spcPts val="700"/>
              </a:spcAft>
            </a:pPr>
            <a:br>
              <a:rPr lang="en-US" kern="100" dirty="0">
                <a:latin typeface="Times New Roman" panose="02020603050405020304" pitchFamily="18" charset="0"/>
                <a:ea typeface="Times New Roman" panose="02020603050405020304" pitchFamily="18" charset="0"/>
              </a:rPr>
            </a:br>
            <a:r>
              <a:rPr lang="en-US" b="1" kern="100" dirty="0">
                <a:solidFill>
                  <a:srgbClr val="0070C0"/>
                </a:solidFill>
                <a:latin typeface="Times New Roman" panose="02020603050405020304" pitchFamily="18" charset="0"/>
                <a:ea typeface="Times New Roman" panose="02020603050405020304" pitchFamily="18" charset="0"/>
              </a:rPr>
              <a:t>EXPORTING THE DATA TO EXCEL</a:t>
            </a:r>
            <a:br>
              <a:rPr lang="en-US" b="1" kern="100" dirty="0">
                <a:solidFill>
                  <a:srgbClr val="000000"/>
                </a:solidFill>
                <a:latin typeface="Times New Roman" panose="02020603050405020304" pitchFamily="18" charset="0"/>
                <a:ea typeface="Times New Roman" panose="02020603050405020304" pitchFamily="18" charset="0"/>
              </a:rPr>
            </a:br>
            <a:endParaRPr lang="en-US" dirty="0"/>
          </a:p>
        </p:txBody>
      </p:sp>
      <p:sp>
        <p:nvSpPr>
          <p:cNvPr id="4" name="Content Placeholder 3"/>
          <p:cNvSpPr>
            <a:spLocks noGrp="1"/>
          </p:cNvSpPr>
          <p:nvPr>
            <p:ph idx="1"/>
          </p:nvPr>
        </p:nvSpPr>
        <p:spPr/>
        <p:txBody>
          <a:bodyPr/>
          <a:lstStyle/>
          <a:p>
            <a:pPr marL="0" indent="0">
              <a:buNone/>
            </a:pPr>
            <a:r>
              <a:rPr lang="en-US" dirty="0">
                <a:solidFill>
                  <a:srgbClr val="0070C0"/>
                </a:solidFill>
              </a:rPr>
              <a:t>Once the data has been structured, we now export each year  into an excel file using the command;</a:t>
            </a:r>
          </a:p>
          <a:p>
            <a:pPr marL="0" indent="0">
              <a:buNone/>
            </a:pPr>
            <a:r>
              <a:rPr lang="en-US" dirty="0">
                <a:solidFill>
                  <a:srgbClr val="C00000"/>
                </a:solidFill>
                <a:latin typeface="+mj-lt"/>
              </a:rPr>
              <a:t>output1 = "C:\Users\LENOVO\Desktop\Question1\car_struct2015.xlsx"</a:t>
            </a:r>
          </a:p>
          <a:p>
            <a:pPr marL="0" indent="0">
              <a:buNone/>
            </a:pPr>
            <a:r>
              <a:rPr lang="en-US" dirty="0">
                <a:solidFill>
                  <a:srgbClr val="C00000"/>
                </a:solidFill>
                <a:latin typeface="+mj-lt"/>
              </a:rPr>
              <a:t>writetable(Year2015,output1,"Sheet","Year2015");</a:t>
            </a:r>
          </a:p>
          <a:p>
            <a:pPr marL="0" indent="0">
              <a:buNone/>
            </a:pPr>
            <a:r>
              <a:rPr lang="en-US" u="sng" dirty="0">
                <a:solidFill>
                  <a:srgbClr val="0070C0"/>
                </a:solidFill>
              </a:rPr>
              <a:t>Note</a:t>
            </a:r>
            <a:r>
              <a:rPr lang="en-US" dirty="0">
                <a:solidFill>
                  <a:srgbClr val="0070C0"/>
                </a:solidFill>
              </a:rPr>
              <a:t>: the above command applies to all years , only the variable and year are changed for different years</a:t>
            </a:r>
          </a:p>
        </p:txBody>
      </p:sp>
    </p:spTree>
    <p:extLst>
      <p:ext uri="{BB962C8B-B14F-4D97-AF65-F5344CB8AC3E}">
        <p14:creationId xmlns:p14="http://schemas.microsoft.com/office/powerpoint/2010/main" val="33469138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13298047"/>
            <a:ext cx="6096000" cy="769313"/>
          </a:xfrm>
          <a:prstGeom prst="rect">
            <a:avLst/>
          </a:prstGeom>
        </p:spPr>
        <p:txBody>
          <a:bodyPr>
            <a:spAutoFit/>
          </a:bodyPr>
          <a:lstStyle/>
          <a:p>
            <a:pPr marL="95885" marR="0" indent="5715" algn="just">
              <a:lnSpc>
                <a:spcPct val="106000"/>
              </a:lnSpc>
              <a:spcBef>
                <a:spcPts val="0"/>
              </a:spcBef>
              <a:spcAft>
                <a:spcPts val="700"/>
              </a:spcAft>
            </a:pPr>
            <a:r>
              <a:rPr lang="en-US" b="1" kern="100" dirty="0">
                <a:latin typeface="Times New Roman" panose="02020603050405020304" pitchFamily="18" charset="0"/>
                <a:ea typeface="Times New Roman" panose="02020603050405020304" pitchFamily="18" charset="0"/>
              </a:rPr>
              <a:t> </a:t>
            </a:r>
            <a:endParaRPr lang="en-US" kern="100" dirty="0">
              <a:latin typeface="Times New Roman" panose="02020603050405020304" pitchFamily="18" charset="0"/>
              <a:ea typeface="Times New Roman" panose="02020603050405020304" pitchFamily="18" charset="0"/>
            </a:endParaRPr>
          </a:p>
          <a:p>
            <a:pPr marL="95885" marR="0" indent="5715" algn="just">
              <a:lnSpc>
                <a:spcPct val="106000"/>
              </a:lnSpc>
              <a:spcBef>
                <a:spcPts val="0"/>
              </a:spcBef>
              <a:spcAft>
                <a:spcPts val="700"/>
              </a:spcAft>
            </a:pPr>
            <a:r>
              <a:rPr lang="en-US" kern="100" dirty="0">
                <a:latin typeface="Consolas" panose="020B0609020204030204" pitchFamily="49" charset="0"/>
                <a:ea typeface="Times New Roman" panose="02020603050405020304" pitchFamily="18" charset="0"/>
              </a:rPr>
              <a:t> </a:t>
            </a:r>
            <a:endParaRPr lang="en-US" kern="100" dirty="0">
              <a:latin typeface="Times New Roman" panose="02020603050405020304" pitchFamily="18" charset="0"/>
              <a:ea typeface="Times New Roman" panose="02020603050405020304" pitchFamily="18" charset="0"/>
            </a:endParaRPr>
          </a:p>
        </p:txBody>
      </p:sp>
      <p:sp>
        <p:nvSpPr>
          <p:cNvPr id="3" name="Title 2"/>
          <p:cNvSpPr>
            <a:spLocks noGrp="1"/>
          </p:cNvSpPr>
          <p:nvPr>
            <p:ph type="title"/>
          </p:nvPr>
        </p:nvSpPr>
        <p:spPr>
          <a:xfrm>
            <a:off x="1484311" y="0"/>
            <a:ext cx="10018713" cy="846667"/>
          </a:xfrm>
        </p:spPr>
        <p:txBody>
          <a:bodyPr>
            <a:normAutofit fontScale="90000"/>
          </a:bodyPr>
          <a:lstStyle/>
          <a:p>
            <a:pPr>
              <a:lnSpc>
                <a:spcPct val="107000"/>
              </a:lnSpc>
            </a:pPr>
            <a:r>
              <a:rPr lang="en-US" b="1" kern="100" dirty="0">
                <a:solidFill>
                  <a:srgbClr val="0070C0"/>
                </a:solidFill>
                <a:latin typeface="Times New Roman" panose="02020603050405020304" pitchFamily="18" charset="0"/>
                <a:ea typeface="Times New Roman" panose="02020603050405020304" pitchFamily="18" charset="0"/>
              </a:rPr>
              <a:t>ANALYZED DATA THROUGH STATISTICS</a:t>
            </a:r>
          </a:p>
        </p:txBody>
      </p:sp>
      <p:sp>
        <p:nvSpPr>
          <p:cNvPr id="4" name="Content Placeholder 3"/>
          <p:cNvSpPr>
            <a:spLocks noGrp="1"/>
          </p:cNvSpPr>
          <p:nvPr>
            <p:ph idx="1"/>
          </p:nvPr>
        </p:nvSpPr>
        <p:spPr>
          <a:xfrm>
            <a:off x="1484310" y="620889"/>
            <a:ext cx="10018713" cy="6096000"/>
          </a:xfrm>
        </p:spPr>
        <p:txBody>
          <a:bodyPr>
            <a:normAutofit fontScale="40000" lnSpcReduction="20000"/>
          </a:bodyPr>
          <a:lstStyle/>
          <a:p>
            <a:pPr marL="0" indent="0">
              <a:buNone/>
            </a:pPr>
            <a:r>
              <a:rPr lang="en-US" sz="4200" dirty="0">
                <a:solidFill>
                  <a:srgbClr val="0070C0"/>
                </a:solidFill>
                <a:latin typeface="Times New Roman" panose="02020603050405020304" pitchFamily="18" charset="0"/>
                <a:cs typeface="Times New Roman" panose="02020603050405020304" pitchFamily="18" charset="0"/>
              </a:rPr>
              <a:t>Yearly_distribution_of_cars = groupsummary(data,"Year")</a:t>
            </a:r>
          </a:p>
          <a:p>
            <a:pPr marL="0" indent="0">
              <a:buNone/>
            </a:pPr>
            <a:r>
              <a:rPr lang="en-US" sz="4200" dirty="0">
                <a:solidFill>
                  <a:srgbClr val="0070C0"/>
                </a:solidFill>
                <a:latin typeface="Times New Roman" panose="02020603050405020304" pitchFamily="18" charset="0"/>
                <a:cs typeface="Times New Roman" panose="02020603050405020304" pitchFamily="18" charset="0"/>
              </a:rPr>
              <a:t>disp(Yearly_distribution(:,["Year","GroupCount"]));</a:t>
            </a:r>
          </a:p>
          <a:p>
            <a:pPr marL="0" indent="0">
              <a:buNone/>
            </a:pPr>
            <a:r>
              <a:rPr lang="en-US" sz="4200" dirty="0">
                <a:solidFill>
                  <a:srgbClr val="0070C0"/>
                </a:solidFill>
                <a:latin typeface="Times New Roman" panose="02020603050405020304" pitchFamily="18" charset="0"/>
                <a:cs typeface="Times New Roman" panose="02020603050405020304" pitchFamily="18" charset="0"/>
              </a:rPr>
              <a:t> </a:t>
            </a:r>
          </a:p>
          <a:p>
            <a:pPr marL="0" indent="0">
              <a:buNone/>
            </a:pPr>
            <a:r>
              <a:rPr lang="en-US" sz="4200" dirty="0">
                <a:solidFill>
                  <a:srgbClr val="0070C0"/>
                </a:solidFill>
                <a:latin typeface="Times New Roman" panose="02020603050405020304" pitchFamily="18" charset="0"/>
                <a:cs typeface="Times New Roman" panose="02020603050405020304" pitchFamily="18" charset="0"/>
              </a:rPr>
              <a:t>Country_distribution_of_cars = groupsummary(data,"Country_of_Manufacture")</a:t>
            </a:r>
          </a:p>
          <a:p>
            <a:pPr marL="0" indent="0">
              <a:buNone/>
            </a:pPr>
            <a:r>
              <a:rPr lang="en-US" sz="4200" dirty="0">
                <a:solidFill>
                  <a:srgbClr val="0070C0"/>
                </a:solidFill>
                <a:latin typeface="Times New Roman" panose="02020603050405020304" pitchFamily="18" charset="0"/>
                <a:cs typeface="Times New Roman" panose="02020603050405020304" pitchFamily="18" charset="0"/>
              </a:rPr>
              <a:t>disp(Country_distribution_of_cars(:,["Country_of_Manufacture","GroupCount"]));</a:t>
            </a:r>
          </a:p>
          <a:p>
            <a:pPr marL="0" indent="0">
              <a:buNone/>
            </a:pPr>
            <a:r>
              <a:rPr lang="en-US" sz="4200" dirty="0">
                <a:solidFill>
                  <a:srgbClr val="0070C0"/>
                </a:solidFill>
                <a:latin typeface="Times New Roman" panose="02020603050405020304" pitchFamily="18" charset="0"/>
                <a:cs typeface="Times New Roman" panose="02020603050405020304" pitchFamily="18" charset="0"/>
              </a:rPr>
              <a:t>maximum_Country_distribution_of_cars = max(Country_distribution_of_cars.GroupCount);</a:t>
            </a:r>
          </a:p>
          <a:p>
            <a:pPr marL="0" indent="0">
              <a:buNone/>
            </a:pPr>
            <a:r>
              <a:rPr lang="en-US" sz="4200" dirty="0">
                <a:solidFill>
                  <a:srgbClr val="0070C0"/>
                </a:solidFill>
                <a:latin typeface="Times New Roman" panose="02020603050405020304" pitchFamily="18" charset="0"/>
                <a:cs typeface="Times New Roman" panose="02020603050405020304" pitchFamily="18" charset="0"/>
              </a:rPr>
              <a:t>disp(maximum_Country_distribution_of_cars);</a:t>
            </a:r>
          </a:p>
          <a:p>
            <a:pPr marL="0" indent="0">
              <a:buNone/>
            </a:pPr>
            <a:r>
              <a:rPr lang="en-US" sz="4200" dirty="0">
                <a:solidFill>
                  <a:srgbClr val="0070C0"/>
                </a:solidFill>
                <a:latin typeface="Times New Roman" panose="02020603050405020304" pitchFamily="18" charset="0"/>
                <a:cs typeface="Times New Roman" panose="02020603050405020304" pitchFamily="18" charset="0"/>
              </a:rPr>
              <a:t>fprintf("mean country distribution of cars: %.2f\n",mean(Country_distribution_of_cars.GroupCount));</a:t>
            </a:r>
          </a:p>
          <a:p>
            <a:pPr marL="0" indent="0">
              <a:buNone/>
            </a:pPr>
            <a:r>
              <a:rPr lang="en-US" sz="4200" dirty="0">
                <a:solidFill>
                  <a:srgbClr val="0070C0"/>
                </a:solidFill>
                <a:latin typeface="Times New Roman" panose="02020603050405020304" pitchFamily="18" charset="0"/>
                <a:cs typeface="Times New Roman" panose="02020603050405020304" pitchFamily="18" charset="0"/>
              </a:rPr>
              <a:t>fprintf("mode country distribution of cars: %.2f\n",mode(Country_distribution_of_cars.GroupCount));</a:t>
            </a:r>
          </a:p>
          <a:p>
            <a:pPr marL="0" indent="0">
              <a:buNone/>
            </a:pPr>
            <a:r>
              <a:rPr lang="en-US" sz="4200" dirty="0">
                <a:solidFill>
                  <a:srgbClr val="0070C0"/>
                </a:solidFill>
                <a:latin typeface="Times New Roman" panose="02020603050405020304" pitchFamily="18" charset="0"/>
                <a:cs typeface="Times New Roman" panose="02020603050405020304" pitchFamily="18" charset="0"/>
              </a:rPr>
              <a:t>fprintf("median country distribution of cars: %.2f\n",median(Country_distribution_of_cars.GroupCount));</a:t>
            </a:r>
          </a:p>
          <a:p>
            <a:pPr marL="0" indent="0">
              <a:buNone/>
            </a:pPr>
            <a:r>
              <a:rPr lang="en-US" sz="4200" dirty="0">
                <a:solidFill>
                  <a:srgbClr val="0070C0"/>
                </a:solidFill>
                <a:latin typeface="Times New Roman" panose="02020603050405020304" pitchFamily="18" charset="0"/>
                <a:cs typeface="Times New Roman" panose="02020603050405020304" pitchFamily="18" charset="0"/>
              </a:rPr>
              <a:t>fprintf("standard deviation country distribution of cars: %.2f\n",std(Country_distribution_of_cars.GroupCount));</a:t>
            </a:r>
          </a:p>
          <a:p>
            <a:pPr marL="0" indent="0">
              <a:buNone/>
            </a:pPr>
            <a:r>
              <a:rPr lang="en-US" sz="4200" dirty="0">
                <a:solidFill>
                  <a:srgbClr val="0070C0"/>
                </a:solidFill>
                <a:latin typeface="Times New Roman" panose="02020603050405020304" pitchFamily="18" charset="0"/>
                <a:cs typeface="Times New Roman" panose="02020603050405020304" pitchFamily="18" charset="0"/>
              </a:rPr>
              <a:t>fprintf("maximum country distribution of cars: %.d\n",max(Country_distribution_of_cars.GroupCount));</a:t>
            </a:r>
          </a:p>
          <a:p>
            <a:pPr marL="0" indent="0">
              <a:buNone/>
            </a:pPr>
            <a:r>
              <a:rPr lang="en-US" sz="4200" dirty="0">
                <a:solidFill>
                  <a:srgbClr val="0070C0"/>
                </a:solidFill>
                <a:latin typeface="Times New Roman" panose="02020603050405020304" pitchFamily="18" charset="0"/>
                <a:cs typeface="Times New Roman" panose="02020603050405020304" pitchFamily="18" charset="0"/>
              </a:rPr>
              <a:t>fprintf("minimum country distribution of cars: %.d\n",min(Country_distribution_of_cars.GroupCount));</a:t>
            </a:r>
          </a:p>
          <a:p>
            <a:pPr marL="0" indent="0">
              <a:buNone/>
            </a:pPr>
            <a:r>
              <a:rPr lang="en-US" sz="4200" dirty="0">
                <a:latin typeface="Times New Roman" panose="02020603050405020304" pitchFamily="18" charset="0"/>
                <a:cs typeface="Times New Roman" panose="02020603050405020304" pitchFamily="18" charset="0"/>
              </a:rPr>
              <a:t> </a:t>
            </a:r>
            <a:endParaRPr lang="en-US" dirty="0"/>
          </a:p>
        </p:txBody>
      </p:sp>
    </p:spTree>
    <p:extLst>
      <p:ext uri="{BB962C8B-B14F-4D97-AF65-F5344CB8AC3E}">
        <p14:creationId xmlns:p14="http://schemas.microsoft.com/office/powerpoint/2010/main" val="32768557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1"/>
            <a:ext cx="10018713" cy="700644"/>
          </a:xfrm>
        </p:spPr>
        <p:txBody>
          <a:bodyPr>
            <a:normAutofit fontScale="90000"/>
          </a:bodyPr>
          <a:lstStyle/>
          <a:p>
            <a:r>
              <a:rPr lang="en-US" dirty="0">
                <a:solidFill>
                  <a:srgbClr val="0070C0"/>
                </a:solidFill>
                <a:latin typeface="Times New Roman" panose="02020603050405020304" pitchFamily="18" charset="0"/>
                <a:cs typeface="Times New Roman" panose="02020603050405020304" pitchFamily="18" charset="0"/>
              </a:rPr>
              <a:t>CONT…</a:t>
            </a:r>
          </a:p>
        </p:txBody>
      </p:sp>
      <p:sp>
        <p:nvSpPr>
          <p:cNvPr id="3" name="Content Placeholder 2"/>
          <p:cNvSpPr>
            <a:spLocks noGrp="1"/>
          </p:cNvSpPr>
          <p:nvPr>
            <p:ph idx="1"/>
          </p:nvPr>
        </p:nvSpPr>
        <p:spPr>
          <a:xfrm>
            <a:off x="2173287" y="546266"/>
            <a:ext cx="10018713" cy="5985163"/>
          </a:xfrm>
        </p:spPr>
        <p:txBody>
          <a:bodyPr>
            <a:normAutofit fontScale="47500" lnSpcReduction="20000"/>
          </a:bodyPr>
          <a:lstStyle/>
          <a:p>
            <a:pPr marL="0" indent="0">
              <a:buNone/>
            </a:pPr>
            <a:endParaRPr lang="en-US" dirty="0">
              <a:solidFill>
                <a:srgbClr val="0070C0"/>
              </a:solidFill>
              <a:latin typeface="Times New Roman" panose="02020603050405020304" pitchFamily="18" charset="0"/>
              <a:cs typeface="Times New Roman" panose="02020603050405020304" pitchFamily="18" charset="0"/>
            </a:endParaRPr>
          </a:p>
          <a:p>
            <a:pPr marL="0" indent="0">
              <a:buNone/>
            </a:pPr>
            <a:r>
              <a:rPr lang="en-US" dirty="0">
                <a:solidFill>
                  <a:srgbClr val="0070C0"/>
                </a:solidFill>
                <a:latin typeface="Times New Roman" panose="02020603050405020304" pitchFamily="18" charset="0"/>
                <a:cs typeface="Times New Roman" panose="02020603050405020304" pitchFamily="18" charset="0"/>
              </a:rPr>
              <a:t>Color_distribution_of_cars = groupsummary(data,"Color")</a:t>
            </a:r>
          </a:p>
          <a:p>
            <a:pPr marL="0" indent="0">
              <a:buNone/>
            </a:pPr>
            <a:r>
              <a:rPr lang="en-US" dirty="0">
                <a:solidFill>
                  <a:srgbClr val="0070C0"/>
                </a:solidFill>
                <a:latin typeface="Times New Roman" panose="02020603050405020304" pitchFamily="18" charset="0"/>
                <a:cs typeface="Times New Roman" panose="02020603050405020304" pitchFamily="18" charset="0"/>
              </a:rPr>
              <a:t>disp(Color_distribution_of_cars(:,["Color","GroupCount"]));</a:t>
            </a:r>
          </a:p>
          <a:p>
            <a:pPr marL="0" indent="0">
              <a:buNone/>
            </a:pPr>
            <a:r>
              <a:rPr lang="en-US" dirty="0">
                <a:solidFill>
                  <a:srgbClr val="0070C0"/>
                </a:solidFill>
                <a:latin typeface="Times New Roman" panose="02020603050405020304" pitchFamily="18" charset="0"/>
                <a:cs typeface="Times New Roman" panose="02020603050405020304" pitchFamily="18" charset="0"/>
              </a:rPr>
              <a:t> </a:t>
            </a:r>
          </a:p>
          <a:p>
            <a:pPr marL="0" indent="0">
              <a:buNone/>
            </a:pPr>
            <a:r>
              <a:rPr lang="en-US" dirty="0">
                <a:solidFill>
                  <a:srgbClr val="0070C0"/>
                </a:solidFill>
                <a:latin typeface="Times New Roman" panose="02020603050405020304" pitchFamily="18" charset="0"/>
                <a:cs typeface="Times New Roman" panose="02020603050405020304" pitchFamily="18" charset="0"/>
              </a:rPr>
              <a:t>Manufacturer_distribution_of_cars = groupsummary(data,"Manufacturer")</a:t>
            </a:r>
          </a:p>
          <a:p>
            <a:pPr marL="0" indent="0">
              <a:buNone/>
            </a:pPr>
            <a:r>
              <a:rPr lang="en-US" dirty="0">
                <a:solidFill>
                  <a:srgbClr val="0070C0"/>
                </a:solidFill>
                <a:latin typeface="Times New Roman" panose="02020603050405020304" pitchFamily="18" charset="0"/>
                <a:cs typeface="Times New Roman" panose="02020603050405020304" pitchFamily="18" charset="0"/>
              </a:rPr>
              <a:t>disp(Manufacturer_distribution_of_cars(:,["Manufacturer","GroupCount"]));</a:t>
            </a:r>
          </a:p>
          <a:p>
            <a:pPr marL="0" indent="0">
              <a:buNone/>
            </a:pPr>
            <a:r>
              <a:rPr lang="en-US" dirty="0">
                <a:solidFill>
                  <a:srgbClr val="0070C0"/>
                </a:solidFill>
                <a:latin typeface="Times New Roman" panose="02020603050405020304" pitchFamily="18" charset="0"/>
                <a:cs typeface="Times New Roman" panose="02020603050405020304" pitchFamily="18" charset="0"/>
              </a:rPr>
              <a:t>fprintf("mean Manufacturer distribution of cars: %.2f\n",mean(Manufacturer_distribution_of_cars.GroupCount));</a:t>
            </a:r>
          </a:p>
          <a:p>
            <a:pPr marL="0" indent="0">
              <a:buNone/>
            </a:pPr>
            <a:r>
              <a:rPr lang="en-US" dirty="0">
                <a:solidFill>
                  <a:srgbClr val="0070C0"/>
                </a:solidFill>
                <a:latin typeface="Times New Roman" panose="02020603050405020304" pitchFamily="18" charset="0"/>
                <a:cs typeface="Times New Roman" panose="02020603050405020304" pitchFamily="18" charset="0"/>
              </a:rPr>
              <a:t>fprintf("mode Manufacturer distribution of cars: %.2f\n",mode(Manufacturer_distribution_of_cars.GroupCount));</a:t>
            </a:r>
          </a:p>
          <a:p>
            <a:pPr marL="0" indent="0">
              <a:buNone/>
            </a:pPr>
            <a:r>
              <a:rPr lang="en-US" dirty="0">
                <a:solidFill>
                  <a:srgbClr val="0070C0"/>
                </a:solidFill>
                <a:latin typeface="Times New Roman" panose="02020603050405020304" pitchFamily="18" charset="0"/>
                <a:cs typeface="Times New Roman" panose="02020603050405020304" pitchFamily="18" charset="0"/>
              </a:rPr>
              <a:t>fprintf("median Manufacturer distribution of cars: %.2f\n",median(Manufacturer_distribution_of_cars.GroupCount));</a:t>
            </a:r>
          </a:p>
          <a:p>
            <a:pPr marL="0" indent="0">
              <a:buNone/>
            </a:pPr>
            <a:r>
              <a:rPr lang="en-US" dirty="0">
                <a:solidFill>
                  <a:srgbClr val="0070C0"/>
                </a:solidFill>
                <a:latin typeface="Times New Roman" panose="02020603050405020304" pitchFamily="18" charset="0"/>
                <a:cs typeface="Times New Roman" panose="02020603050405020304" pitchFamily="18" charset="0"/>
              </a:rPr>
              <a:t>fprintf("standard deviation Manufacturer distribution of cars: %.2f\n",std(Manufacturer_distribution_of_cars.GroupCount));</a:t>
            </a:r>
          </a:p>
          <a:p>
            <a:pPr marL="0" indent="0">
              <a:buNone/>
            </a:pPr>
            <a:r>
              <a:rPr lang="en-US" dirty="0">
                <a:solidFill>
                  <a:srgbClr val="0070C0"/>
                </a:solidFill>
                <a:latin typeface="Times New Roman" panose="02020603050405020304" pitchFamily="18" charset="0"/>
                <a:cs typeface="Times New Roman" panose="02020603050405020304" pitchFamily="18" charset="0"/>
              </a:rPr>
              <a:t>fprintf("maximum Manufacturer distribution of cars: %.d\n",max(Manufacturer_distribution_of_cars.GroupCount));</a:t>
            </a:r>
          </a:p>
          <a:p>
            <a:pPr marL="0" indent="0">
              <a:buNone/>
            </a:pPr>
            <a:r>
              <a:rPr lang="en-US" dirty="0">
                <a:solidFill>
                  <a:srgbClr val="0070C0"/>
                </a:solidFill>
                <a:latin typeface="Times New Roman" panose="02020603050405020304" pitchFamily="18" charset="0"/>
                <a:cs typeface="Times New Roman" panose="02020603050405020304" pitchFamily="18" charset="0"/>
              </a:rPr>
              <a:t>fprintf("minimum Manufacturer distribution of cars: %.d\n",min(Manufacturer_distribution_of_cars.GroupCount));</a:t>
            </a:r>
          </a:p>
          <a:p>
            <a:pPr marL="0" indent="0">
              <a:buNone/>
            </a:pPr>
            <a:r>
              <a:rPr lang="en-US" dirty="0">
                <a:solidFill>
                  <a:srgbClr val="0070C0"/>
                </a:solidFill>
                <a:latin typeface="Times New Roman" panose="02020603050405020304" pitchFamily="18" charset="0"/>
                <a:cs typeface="Times New Roman" panose="02020603050405020304" pitchFamily="18" charset="0"/>
              </a:rPr>
              <a:t> </a:t>
            </a:r>
          </a:p>
          <a:p>
            <a:pPr marL="0" indent="0">
              <a:buNone/>
            </a:pPr>
            <a:r>
              <a:rPr lang="en-US" dirty="0">
                <a:solidFill>
                  <a:srgbClr val="0070C0"/>
                </a:solidFill>
                <a:latin typeface="Times New Roman" panose="02020603050405020304" pitchFamily="18" charset="0"/>
                <a:cs typeface="Times New Roman" panose="02020603050405020304" pitchFamily="18" charset="0"/>
              </a:rPr>
              <a:t>Model_distribution_of_cars = groupsummary(data,"Model")</a:t>
            </a:r>
          </a:p>
          <a:p>
            <a:pPr marL="0" indent="0">
              <a:buNone/>
            </a:pPr>
            <a:r>
              <a:rPr lang="en-US" dirty="0">
                <a:solidFill>
                  <a:srgbClr val="0070C0"/>
                </a:solidFill>
                <a:latin typeface="Times New Roman" panose="02020603050405020304" pitchFamily="18" charset="0"/>
                <a:cs typeface="Times New Roman" panose="02020603050405020304" pitchFamily="18" charset="0"/>
              </a:rPr>
              <a:t>disp(Model_distribution_of_cars(:,["Model","GroupCount"]));</a:t>
            </a:r>
          </a:p>
          <a:p>
            <a:pPr marL="0" indent="0">
              <a:buNone/>
            </a:pPr>
            <a:r>
              <a:rPr lang="en-US" dirty="0">
                <a:solidFill>
                  <a:srgbClr val="0070C0"/>
                </a:solidFill>
                <a:latin typeface="Times New Roman" panose="02020603050405020304" pitchFamily="18" charset="0"/>
                <a:cs typeface="Times New Roman" panose="02020603050405020304" pitchFamily="18" charset="0"/>
              </a:rPr>
              <a:t> </a:t>
            </a:r>
          </a:p>
          <a:p>
            <a:pPr marL="0" indent="0">
              <a:buNone/>
            </a:pPr>
            <a:r>
              <a:rPr lang="en-US" dirty="0">
                <a:solidFill>
                  <a:srgbClr val="0070C0"/>
                </a:solidFill>
                <a:latin typeface="Times New Roman" panose="02020603050405020304" pitchFamily="18" charset="0"/>
                <a:cs typeface="Times New Roman" panose="02020603050405020304" pitchFamily="18" charset="0"/>
              </a:rPr>
              <a:t>Battery_Type_distribution_of_cars = groupsummary(data,"Battery_Type")</a:t>
            </a:r>
          </a:p>
          <a:p>
            <a:pPr marL="0" indent="0">
              <a:buNone/>
            </a:pPr>
            <a:r>
              <a:rPr lang="en-US" dirty="0">
                <a:solidFill>
                  <a:srgbClr val="0070C0"/>
                </a:solidFill>
                <a:latin typeface="Times New Roman" panose="02020603050405020304" pitchFamily="18" charset="0"/>
                <a:cs typeface="Times New Roman" panose="02020603050405020304" pitchFamily="18" charset="0"/>
              </a:rPr>
              <a:t>disp(Battery_Type_distribution_of_cars(:,["Battery_Type","GroupCount"]));</a:t>
            </a:r>
          </a:p>
          <a:p>
            <a:pPr marL="0" indent="0">
              <a:buNone/>
            </a:pPr>
            <a:r>
              <a:rPr lang="en-US" dirty="0">
                <a:solidFill>
                  <a:srgbClr val="0070C0"/>
                </a:solidFill>
                <a:latin typeface="Times New Roman" panose="02020603050405020304" pitchFamily="18" charset="0"/>
                <a:cs typeface="Times New Roman" panose="02020603050405020304" pitchFamily="18" charset="0"/>
              </a:rPr>
              <a:t>fprintf("mean Battery Type distribution of cars: %.2f\n",mean(Battery_Type_distribution_of_cars.GroupCount));</a:t>
            </a:r>
          </a:p>
          <a:p>
            <a:pPr marL="0" indent="0">
              <a:buNone/>
            </a:pPr>
            <a:r>
              <a:rPr lang="en-US" dirty="0">
                <a:solidFill>
                  <a:srgbClr val="0070C0"/>
                </a:solidFill>
                <a:latin typeface="Times New Roman" panose="02020603050405020304" pitchFamily="18" charset="0"/>
                <a:cs typeface="Times New Roman" panose="02020603050405020304" pitchFamily="18" charset="0"/>
              </a:rPr>
              <a:t>fprintf("mode Battery Type distribution of cars: %.2f\n",mode(Battery_Type_distribution_of_cars.GroupCount));</a:t>
            </a:r>
          </a:p>
          <a:p>
            <a:pPr marL="0" indent="0">
              <a:buNone/>
            </a:pPr>
            <a:r>
              <a:rPr lang="en-US" dirty="0">
                <a:solidFill>
                  <a:srgbClr val="0070C0"/>
                </a:solidFill>
                <a:latin typeface="Times New Roman" panose="02020603050405020304" pitchFamily="18" charset="0"/>
                <a:cs typeface="Times New Roman" panose="02020603050405020304" pitchFamily="18" charset="0"/>
              </a:rPr>
              <a:t>fprintf("median Battery Type distribution of cars: %.2f\n",median(Battery_Type_distribution_of_cars.GroupCount));</a:t>
            </a:r>
          </a:p>
          <a:p>
            <a:pPr marL="0" indent="0">
              <a:buNone/>
            </a:pPr>
            <a:r>
              <a:rPr lang="en-US" dirty="0">
                <a:solidFill>
                  <a:srgbClr val="0070C0"/>
                </a:solidFill>
                <a:latin typeface="Times New Roman" panose="02020603050405020304" pitchFamily="18" charset="0"/>
                <a:cs typeface="Times New Roman" panose="02020603050405020304" pitchFamily="18" charset="0"/>
              </a:rPr>
              <a:t>fprintf("standard deviation Battery Type distribution of cars: %.2f\n",std(Battery_Type_distribution_of_cars.GroupCount));</a:t>
            </a:r>
          </a:p>
          <a:p>
            <a:pPr marL="0" indent="0">
              <a:buNone/>
            </a:pPr>
            <a:r>
              <a:rPr lang="en-US" dirty="0">
                <a:solidFill>
                  <a:srgbClr val="0070C0"/>
                </a:solidFill>
                <a:latin typeface="Times New Roman" panose="02020603050405020304" pitchFamily="18" charset="0"/>
                <a:cs typeface="Times New Roman" panose="02020603050405020304" pitchFamily="18" charset="0"/>
              </a:rPr>
              <a:t>fprintf("maximum Battery Type distribution of cars: %.d\n",max(Battery_Type_distribution_of_cars.GroupCount));</a:t>
            </a:r>
          </a:p>
          <a:p>
            <a:pPr marL="0" indent="0">
              <a:buNone/>
            </a:pPr>
            <a:r>
              <a:rPr lang="en-US" dirty="0">
                <a:solidFill>
                  <a:srgbClr val="0070C0"/>
                </a:solidFill>
                <a:latin typeface="Times New Roman" panose="02020603050405020304" pitchFamily="18" charset="0"/>
                <a:cs typeface="Times New Roman" panose="02020603050405020304" pitchFamily="18" charset="0"/>
              </a:rPr>
              <a:t>fprintf("minimum Battery Type distribution of cars: %.d\n",min(Battery_Type_distribution_of_cars.GroupCount));</a:t>
            </a:r>
          </a:p>
        </p:txBody>
      </p:sp>
    </p:spTree>
    <p:extLst>
      <p:ext uri="{BB962C8B-B14F-4D97-AF65-F5344CB8AC3E}">
        <p14:creationId xmlns:p14="http://schemas.microsoft.com/office/powerpoint/2010/main" val="23366272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70C0"/>
                </a:solidFill>
                <a:latin typeface="Times New Roman" panose="02020603050405020304" pitchFamily="18" charset="0"/>
                <a:cs typeface="Times New Roman" panose="02020603050405020304" pitchFamily="18" charset="0"/>
              </a:rPr>
              <a:t>Visualization of Data</a:t>
            </a:r>
          </a:p>
        </p:txBody>
      </p:sp>
      <p:sp>
        <p:nvSpPr>
          <p:cNvPr id="3" name="Content Placeholder 2"/>
          <p:cNvSpPr>
            <a:spLocks noGrp="1"/>
          </p:cNvSpPr>
          <p:nvPr>
            <p:ph idx="1"/>
          </p:nvPr>
        </p:nvSpPr>
        <p:spPr>
          <a:xfrm>
            <a:off x="1484311" y="1772356"/>
            <a:ext cx="10018713" cy="3510844"/>
          </a:xfrm>
        </p:spPr>
        <p:txBody>
          <a:bodyPr>
            <a:normAutofit lnSpcReduction="10000"/>
          </a:bodyPr>
          <a:lstStyle/>
          <a:p>
            <a:pPr marL="0" indent="0">
              <a:buNone/>
            </a:pPr>
            <a:r>
              <a:rPr lang="en-US" dirty="0">
                <a:solidFill>
                  <a:srgbClr val="0070C0"/>
                </a:solidFill>
                <a:latin typeface="Times New Roman" panose="02020603050405020304" pitchFamily="18" charset="0"/>
                <a:cs typeface="Times New Roman" panose="02020603050405020304" pitchFamily="18" charset="0"/>
              </a:rPr>
              <a:t>Basing on the knowledge attained, we visualized our data in various graphs depending on which graph best suited the data we wanted to visualize</a:t>
            </a:r>
          </a:p>
          <a:p>
            <a:pPr marL="0" indent="0">
              <a:buNone/>
            </a:pPr>
            <a:r>
              <a:rPr lang="en-US" dirty="0">
                <a:solidFill>
                  <a:srgbClr val="0070C0"/>
                </a:solidFill>
                <a:latin typeface="Times New Roman" panose="02020603050405020304" pitchFamily="18" charset="0"/>
                <a:cs typeface="Times New Roman" panose="02020603050405020304" pitchFamily="18" charset="0"/>
              </a:rPr>
              <a:t>The general code we used for plotting the graphs was;</a:t>
            </a:r>
          </a:p>
          <a:p>
            <a:pPr marL="0" indent="0">
              <a:buNone/>
            </a:pPr>
            <a:r>
              <a:rPr lang="en-US" sz="1900" dirty="0">
                <a:solidFill>
                  <a:srgbClr val="C00000"/>
                </a:solidFill>
                <a:latin typeface="Times New Roman" panose="02020603050405020304" pitchFamily="18" charset="0"/>
                <a:cs typeface="Times New Roman" panose="02020603050405020304" pitchFamily="18" charset="0"/>
              </a:rPr>
              <a:t>Plot type(x,y);</a:t>
            </a:r>
          </a:p>
          <a:p>
            <a:pPr marL="0" indent="0">
              <a:buNone/>
            </a:pPr>
            <a:r>
              <a:rPr lang="en-US" sz="1900" dirty="0">
                <a:solidFill>
                  <a:srgbClr val="C00000"/>
                </a:solidFill>
                <a:latin typeface="Times New Roman" panose="02020603050405020304" pitchFamily="18" charset="0"/>
                <a:cs typeface="Times New Roman" panose="02020603050405020304" pitchFamily="18" charset="0"/>
              </a:rPr>
              <a:t>xlabel(“x");</a:t>
            </a:r>
          </a:p>
          <a:p>
            <a:pPr marL="0" indent="0">
              <a:buNone/>
            </a:pPr>
            <a:r>
              <a:rPr lang="en-US" sz="1900" dirty="0">
                <a:solidFill>
                  <a:srgbClr val="C00000"/>
                </a:solidFill>
                <a:latin typeface="Times New Roman" panose="02020603050405020304" pitchFamily="18" charset="0"/>
                <a:cs typeface="Times New Roman" panose="02020603050405020304" pitchFamily="18" charset="0"/>
              </a:rPr>
              <a:t>ylabel(“y");</a:t>
            </a:r>
          </a:p>
          <a:p>
            <a:pPr marL="0" indent="0">
              <a:buNone/>
            </a:pPr>
            <a:r>
              <a:rPr lang="en-US" sz="1900" dirty="0">
                <a:solidFill>
                  <a:srgbClr val="C00000"/>
                </a:solidFill>
                <a:latin typeface="Times New Roman" panose="02020603050405020304" pitchFamily="18" charset="0"/>
                <a:cs typeface="Times New Roman" panose="02020603050405020304" pitchFamily="18" charset="0"/>
              </a:rPr>
              <a:t>title("");</a:t>
            </a:r>
          </a:p>
          <a:p>
            <a:pPr marL="0" indent="0">
              <a:buNone/>
            </a:pPr>
            <a:r>
              <a:rPr lang="en-US" dirty="0">
                <a:solidFill>
                  <a:srgbClr val="0070C0"/>
                </a:solidFill>
              </a:rPr>
              <a:t>For all the graphs we plotted </a:t>
            </a:r>
          </a:p>
        </p:txBody>
      </p:sp>
    </p:spTree>
    <p:extLst>
      <p:ext uri="{BB962C8B-B14F-4D97-AF65-F5344CB8AC3E}">
        <p14:creationId xmlns:p14="http://schemas.microsoft.com/office/powerpoint/2010/main" val="2160490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2386941" y="853420"/>
            <a:ext cx="7885215"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635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bar(Yearly_distribution_of_cars.Year,Yearly_distribution_of_cars.GroupCount);</a:t>
            </a:r>
            <a:endParaRPr kumimoji="0" lang="en-US" altLang="en-US" sz="1600"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xlabel("YEARS");</a:t>
            </a:r>
            <a:endParaRPr kumimoji="0" lang="en-US" altLang="en-US" sz="1600"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ylabel("NUMBER OF CARS");</a:t>
            </a:r>
            <a:endParaRPr kumimoji="0" lang="en-US" altLang="en-US" sz="1600"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title("DISTRIBUTION OF CARS PER YEAR");</a:t>
            </a:r>
            <a:endParaRPr kumimoji="0" lang="en-US" altLang="en-US" sz="1600"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saveas(gcf,"bar graph.png");</a:t>
            </a:r>
            <a:endParaRPr kumimoji="0" lang="en-US" altLang="en-US" sz="1600"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049"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4191" y="3087583"/>
            <a:ext cx="5334000" cy="3317669"/>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p:cNvSpPr>
            <a:spLocks noChangeArrowheads="1"/>
          </p:cNvSpPr>
          <p:nvPr/>
        </p:nvSpPr>
        <p:spPr bwMode="auto">
          <a:xfrm>
            <a:off x="2482191" y="588273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Tree>
    <p:extLst>
      <p:ext uri="{BB962C8B-B14F-4D97-AF65-F5344CB8AC3E}">
        <p14:creationId xmlns:p14="http://schemas.microsoft.com/office/powerpoint/2010/main" val="39913354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1745673" y="1214529"/>
            <a:ext cx="7802088" cy="1661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635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barh(Country_distribution_of_cars.Country_of_Manufacture,Country_distribution_of_cars.GroupCount);</a:t>
            </a:r>
            <a:endParaRPr kumimoji="0" lang="en-US" altLang="en-US" sz="1400"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xlabel("country of manufacture");</a:t>
            </a:r>
            <a:endParaRPr kumimoji="0" lang="en-US" altLang="en-US" sz="1400"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ylabel("Number of cars");</a:t>
            </a:r>
            <a:endParaRPr kumimoji="0" lang="en-US" altLang="en-US" sz="1400"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title("A bar graph showing distribution of cars between the manufacturing countries")</a:t>
            </a:r>
            <a:endParaRPr kumimoji="0" lang="en-US" altLang="en-US" sz="1400"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saveas(gcf,"horizontal bar.png");</a:t>
            </a:r>
            <a:endParaRPr kumimoji="0" lang="en-US" altLang="en-US" sz="1400"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grid on;</a:t>
            </a:r>
            <a:endParaRPr kumimoji="0" lang="en-US" altLang="en-US" sz="1400"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09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1068" y="2575323"/>
            <a:ext cx="5334000" cy="40005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p:cNvSpPr>
            <a:spLocks noChangeArrowheads="1"/>
          </p:cNvSpPr>
          <p:nvPr/>
        </p:nvSpPr>
        <p:spPr bwMode="auto">
          <a:xfrm>
            <a:off x="1840923" y="627462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Tree>
    <p:extLst>
      <p:ext uri="{BB962C8B-B14F-4D97-AF65-F5344CB8AC3E}">
        <p14:creationId xmlns:p14="http://schemas.microsoft.com/office/powerpoint/2010/main" val="28638892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2054679" y="503343"/>
            <a:ext cx="8241475"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635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pie(Yearly_distribution_of_cars.GroupCount,Yearly_distribution_of_cars.Year);</a:t>
            </a:r>
            <a:endParaRPr kumimoji="0" lang="en-US" altLang="en-US"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title("distribuction of cars per year");</a:t>
            </a:r>
            <a:endParaRPr kumimoji="0" lang="en-US" altLang="en-US"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legend("2015","2016","2017","2018","2019","2020","2021","2022","2023","2024","2025");</a:t>
            </a:r>
            <a:endParaRPr kumimoji="0" lang="en-US" altLang="en-US"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saveas(gcf,"pie chart.png");</a:t>
            </a:r>
            <a:endParaRPr kumimoji="0" lang="en-US" altLang="en-US"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121"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8380" y="3034146"/>
            <a:ext cx="5211041" cy="40005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p:cNvSpPr>
            <a:spLocks noChangeArrowheads="1"/>
          </p:cNvSpPr>
          <p:nvPr/>
        </p:nvSpPr>
        <p:spPr bwMode="auto">
          <a:xfrm>
            <a:off x="2054679" y="6322126"/>
            <a:ext cx="119109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Tree>
    <p:extLst>
      <p:ext uri="{BB962C8B-B14F-4D97-AF65-F5344CB8AC3E}">
        <p14:creationId xmlns:p14="http://schemas.microsoft.com/office/powerpoint/2010/main" val="25058490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1864425" y="651540"/>
            <a:ext cx="7374577"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635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pareto(Yearly_distribution_of_cars.GroupCount);</a:t>
            </a:r>
            <a:endParaRPr kumimoji="0" lang="en-US" altLang="en-US" sz="1600"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title("distribuction of cars per year");</a:t>
            </a:r>
            <a:endParaRPr kumimoji="0" lang="en-US" altLang="en-US" sz="1600"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xlabel("YEARS");</a:t>
            </a:r>
            <a:endParaRPr kumimoji="0" lang="en-US" altLang="en-US" sz="1600"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ylabel("NUMBER OF CARS");</a:t>
            </a:r>
            <a:endParaRPr kumimoji="0" lang="en-US" altLang="en-US" sz="1600"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saveas(gcf,"pareto.png");</a:t>
            </a:r>
            <a:endParaRPr kumimoji="0" lang="en-US" altLang="en-US" sz="1600"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14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9822" y="2642260"/>
            <a:ext cx="5334000" cy="40005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p:cNvSpPr>
            <a:spLocks noChangeArrowheads="1"/>
          </p:cNvSpPr>
          <p:nvPr/>
        </p:nvSpPr>
        <p:spPr bwMode="auto">
          <a:xfrm>
            <a:off x="1959676" y="568085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Tree>
    <p:extLst>
      <p:ext uri="{BB962C8B-B14F-4D97-AF65-F5344CB8AC3E}">
        <p14:creationId xmlns:p14="http://schemas.microsoft.com/office/powerpoint/2010/main" val="39007091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2232561" y="974927"/>
            <a:ext cx="8324603"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635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boxplot(Yearly_distribution_of_cars.GroupCount);</a:t>
            </a:r>
            <a:endParaRPr kumimoji="0" lang="en-US" altLang="en-US"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title("A Boxplot showing distribution of cars between the manufacturing countries")</a:t>
            </a:r>
            <a:endParaRPr kumimoji="0" lang="en-US" altLang="en-US"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saveas(gcf,"boxplot.png");</a:t>
            </a:r>
            <a:endParaRPr kumimoji="0" lang="en-US" altLang="en-US"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grid on;</a:t>
            </a:r>
            <a:endParaRPr kumimoji="0" lang="en-US" altLang="en-US"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7169"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9480" y="2452255"/>
            <a:ext cx="4681105" cy="40005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p:cNvSpPr>
            <a:spLocks noChangeArrowheads="1"/>
          </p:cNvSpPr>
          <p:nvPr/>
        </p:nvSpPr>
        <p:spPr bwMode="auto">
          <a:xfrm>
            <a:off x="1306533" y="5942116"/>
            <a:ext cx="1069966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Tree>
    <p:extLst>
      <p:ext uri="{BB962C8B-B14F-4D97-AF65-F5344CB8AC3E}">
        <p14:creationId xmlns:p14="http://schemas.microsoft.com/office/powerpoint/2010/main" val="2606785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2470068" y="191432"/>
            <a:ext cx="678081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635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histogram(Yearly_distribution_of_cars.GroupCount);</a:t>
            </a:r>
            <a:endParaRPr kumimoji="0" lang="en-US" altLang="en-US"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xlabel("YEARS");</a:t>
            </a:r>
            <a:endParaRPr kumimoji="0" lang="en-US" altLang="en-US"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ylabel("NUMBER OF CARS");</a:t>
            </a:r>
            <a:endParaRPr kumimoji="0" lang="en-US" altLang="en-US"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title("A Histogram showing distribution of cars between the manufacturing countries")</a:t>
            </a:r>
            <a:endParaRPr kumimoji="0" lang="en-US" altLang="en-US"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saveas(gcf,"histogram.png");</a:t>
            </a:r>
            <a:endParaRPr kumimoji="0" lang="en-US" altLang="en-US"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grid on;</a:t>
            </a:r>
            <a:endParaRPr kumimoji="0" lang="en-US" altLang="en-US"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endParaRPr>
          </a:p>
          <a:p>
            <a:pPr marL="0" marR="0" lvl="0" indent="635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8193"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3829" y="2499756"/>
            <a:ext cx="5334000" cy="40005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p:cNvSpPr>
            <a:spLocks noChangeArrowheads="1"/>
          </p:cNvSpPr>
          <p:nvPr/>
        </p:nvSpPr>
        <p:spPr bwMode="auto">
          <a:xfrm>
            <a:off x="1211531" y="577586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Tree>
    <p:extLst>
      <p:ext uri="{BB962C8B-B14F-4D97-AF65-F5344CB8AC3E}">
        <p14:creationId xmlns:p14="http://schemas.microsoft.com/office/powerpoint/2010/main" val="3431986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70C0"/>
                </a:solidFill>
                <a:latin typeface="Times New Roman" panose="02020603050405020304" pitchFamily="18" charset="0"/>
                <a:cs typeface="Times New Roman" panose="02020603050405020304" pitchFamily="18" charset="0"/>
              </a:rPr>
              <a:t>TASK TWO</a:t>
            </a:r>
          </a:p>
        </p:txBody>
      </p:sp>
      <p:sp>
        <p:nvSpPr>
          <p:cNvPr id="3" name="Content Placeholder 2"/>
          <p:cNvSpPr>
            <a:spLocks noGrp="1"/>
          </p:cNvSpPr>
          <p:nvPr>
            <p:ph idx="1"/>
          </p:nvPr>
        </p:nvSpPr>
        <p:spPr>
          <a:xfrm>
            <a:off x="1484310" y="1906621"/>
            <a:ext cx="10018713" cy="4202349"/>
          </a:xfrm>
        </p:spPr>
        <p:txBody>
          <a:bodyPr>
            <a:normAutofit/>
          </a:bodyPr>
          <a:lstStyle/>
          <a:p>
            <a:pPr marL="0" indent="0">
              <a:buNone/>
            </a:pPr>
            <a:r>
              <a:rPr lang="en-US" dirty="0">
                <a:solidFill>
                  <a:srgbClr val="0070C0"/>
                </a:solidFill>
                <a:latin typeface="Times New Roman" panose="02020603050405020304" pitchFamily="18" charset="0"/>
                <a:cs typeface="Times New Roman" panose="02020603050405020304" pitchFamily="18" charset="0"/>
              </a:rPr>
              <a:t>After collecting the necessary information from all the members, we then obtained codes for the following activities;</a:t>
            </a:r>
          </a:p>
          <a:p>
            <a:r>
              <a:rPr lang="en-US" dirty="0">
                <a:solidFill>
                  <a:srgbClr val="0070C0"/>
                </a:solidFill>
                <a:latin typeface="Times New Roman" panose="02020603050405020304" pitchFamily="18" charset="0"/>
                <a:cs typeface="Times New Roman" panose="02020603050405020304" pitchFamily="18" charset="0"/>
              </a:rPr>
              <a:t>Created a table for the data collected</a:t>
            </a:r>
          </a:p>
          <a:p>
            <a:r>
              <a:rPr lang="en-US" dirty="0">
                <a:solidFill>
                  <a:srgbClr val="0070C0"/>
                </a:solidFill>
                <a:latin typeface="Times New Roman" panose="02020603050405020304" pitchFamily="18" charset="0"/>
                <a:cs typeface="Times New Roman" panose="02020603050405020304" pitchFamily="18" charset="0"/>
              </a:rPr>
              <a:t>Obtained statistical analysis on religion, tribes, hobbies and districts</a:t>
            </a:r>
          </a:p>
          <a:p>
            <a:r>
              <a:rPr lang="en-US" dirty="0">
                <a:solidFill>
                  <a:srgbClr val="0070C0"/>
                </a:solidFill>
                <a:latin typeface="Times New Roman" panose="02020603050405020304" pitchFamily="18" charset="0"/>
                <a:cs typeface="Times New Roman" panose="02020603050405020304" pitchFamily="18" charset="0"/>
              </a:rPr>
              <a:t>Obtained statistics (mode, mean, standard deviation, maximum and minimum values)</a:t>
            </a:r>
          </a:p>
          <a:p>
            <a:r>
              <a:rPr lang="en-US" dirty="0">
                <a:solidFill>
                  <a:srgbClr val="0070C0"/>
                </a:solidFill>
                <a:latin typeface="Times New Roman" panose="02020603050405020304" pitchFamily="18" charset="0"/>
                <a:cs typeface="Times New Roman" panose="02020603050405020304" pitchFamily="18" charset="0"/>
              </a:rPr>
              <a:t>Visualizing of the data</a:t>
            </a:r>
          </a:p>
          <a:p>
            <a:pPr marL="0" indent="0">
              <a:buNone/>
            </a:pPr>
            <a:endParaRPr lang="en-US" dirty="0"/>
          </a:p>
        </p:txBody>
      </p:sp>
    </p:spTree>
    <p:extLst>
      <p:ext uri="{BB962C8B-B14F-4D97-AF65-F5344CB8AC3E}">
        <p14:creationId xmlns:p14="http://schemas.microsoft.com/office/powerpoint/2010/main" val="37261257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70C0"/>
                </a:solidFill>
                <a:latin typeface="Times New Roman" panose="02020603050405020304" pitchFamily="18" charset="0"/>
                <a:cs typeface="Times New Roman" panose="02020603050405020304" pitchFamily="18" charset="0"/>
              </a:rPr>
              <a:t>Created a table for the data collected</a:t>
            </a:r>
            <a:br>
              <a:rPr lang="en-US" dirty="0"/>
            </a:br>
            <a:endParaRPr lang="en-US" dirty="0"/>
          </a:p>
        </p:txBody>
      </p:sp>
      <p:sp>
        <p:nvSpPr>
          <p:cNvPr id="3" name="Content Placeholder 2"/>
          <p:cNvSpPr>
            <a:spLocks noGrp="1"/>
          </p:cNvSpPr>
          <p:nvPr>
            <p:ph idx="1"/>
          </p:nvPr>
        </p:nvSpPr>
        <p:spPr>
          <a:xfrm>
            <a:off x="1484310" y="1887167"/>
            <a:ext cx="10018713" cy="4970833"/>
          </a:xfrm>
        </p:spPr>
        <p:txBody>
          <a:bodyPr>
            <a:normAutofit fontScale="62500" lnSpcReduction="20000"/>
          </a:bodyPr>
          <a:lstStyle/>
          <a:p>
            <a:pPr marL="0" indent="0">
              <a:buNone/>
            </a:pPr>
            <a:r>
              <a:rPr lang="en-US" dirty="0"/>
              <a:t>Name = ["Bravo Gift";"Austine NASASIRA";"Patricia Namuwawu";"Nyemere Anna Grace";"Kintu Gadaffi";"Jeremiah Ainamatsiko";"Mugume Mathias“ ;"Aburot Martha";“Barasa Elvis";"Acham Royce"];</a:t>
            </a:r>
          </a:p>
          <a:p>
            <a:pPr marL="0" indent="0">
              <a:buNone/>
            </a:pPr>
            <a:r>
              <a:rPr lang="en-US" dirty="0"/>
              <a:t>Age = [21;22;21;22;22;21;22;26;23;22;];</a:t>
            </a:r>
          </a:p>
          <a:p>
            <a:pPr marL="0" indent="0">
              <a:buNone/>
            </a:pPr>
            <a:r>
              <a:rPr lang="en-US" dirty="0"/>
              <a:t>Tribe = ["alur";"munyankole";"muganda";"itesot";"muganda";"munyankole";"munyankole";"itesot";"samia";"langi"];</a:t>
            </a:r>
          </a:p>
          <a:p>
            <a:pPr marL="0" indent="0">
              <a:buNone/>
            </a:pPr>
            <a:r>
              <a:rPr lang="en-US" dirty="0"/>
              <a:t>District = ["pakwach";"bushenyi";"masaka";"butebo";"mityana";"kazo";"bushenyi";"amuria";"busia";"lira"];</a:t>
            </a:r>
          </a:p>
          <a:p>
            <a:pPr marL="0" indent="0">
              <a:buNone/>
            </a:pPr>
            <a:r>
              <a:rPr lang="en-US" dirty="0"/>
              <a:t>Hobby = ["music";'dancing';"reading";"footbal";"swimming";"music";"praying";"adventure";"football";"adventure"];</a:t>
            </a:r>
          </a:p>
          <a:p>
            <a:pPr marL="0" indent="0">
              <a:buNone/>
            </a:pPr>
            <a:r>
              <a:rPr lang="en-US" dirty="0"/>
              <a:t>YearofBirth = [2004;2003;2004;2003;2003;2004;2003;1999;2002;2003];</a:t>
            </a:r>
          </a:p>
          <a:p>
            <a:pPr marL="0" indent="0">
              <a:buNone/>
            </a:pPr>
            <a:r>
              <a:rPr lang="en-US" dirty="0"/>
              <a:t>IncomeLevel = [23;34;68;90;23;12;6;23;45;89];</a:t>
            </a:r>
          </a:p>
          <a:p>
            <a:pPr marL="0" indent="0">
              <a:buNone/>
            </a:pPr>
            <a:r>
              <a:rPr lang="en-US" dirty="0"/>
              <a:t>WeeksAttended = [8;9;10;11;12;13;10;11;14;15];</a:t>
            </a:r>
          </a:p>
          <a:p>
            <a:pPr marL="0" indent="0">
              <a:buNone/>
            </a:pPr>
            <a:r>
              <a:rPr lang="en-US" dirty="0"/>
              <a:t>MarksScored = [51;56;79;90;89;67;56;54;53;60];</a:t>
            </a:r>
          </a:p>
          <a:p>
            <a:pPr marL="0" indent="0">
              <a:buNone/>
            </a:pPr>
            <a:r>
              <a:rPr lang="en-US" dirty="0"/>
              <a:t>Course = ["PTI";"WAR";"APE";"AMI";"AMI";"WAR";"MEB";"WAR";"AMI";"AMI"];</a:t>
            </a:r>
          </a:p>
          <a:p>
            <a:pPr marL="0" indent="0">
              <a:buNone/>
            </a:pPr>
            <a:r>
              <a:rPr lang="en-US" dirty="0"/>
              <a:t>Religion = ["catholic";"catholic";"anglican";"catholic";"muslim";"anglican";"catholic";"anglican";"anglican";"catholic"];</a:t>
            </a:r>
          </a:p>
          <a:p>
            <a:pPr marL="0" indent="0">
              <a:buNone/>
            </a:pPr>
            <a:r>
              <a:rPr lang="en-US" dirty="0"/>
              <a:t> Students = table(Name,Age,Tribe,District,Hobby,YearofBirth,IncomeLevel,WeeksAttended,MarksScored,Course,Religion);</a:t>
            </a:r>
          </a:p>
          <a:p>
            <a:pPr marL="0" indent="0">
              <a:buNone/>
            </a:pPr>
            <a:r>
              <a:rPr lang="en-US" dirty="0"/>
              <a:t>disp(Students);</a:t>
            </a:r>
          </a:p>
          <a:p>
            <a:pPr marL="0" indent="0">
              <a:buNone/>
            </a:pPr>
            <a:endParaRPr lang="en-US" dirty="0"/>
          </a:p>
        </p:txBody>
      </p:sp>
    </p:spTree>
    <p:extLst>
      <p:ext uri="{BB962C8B-B14F-4D97-AF65-F5344CB8AC3E}">
        <p14:creationId xmlns:p14="http://schemas.microsoft.com/office/powerpoint/2010/main" val="32469622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09" y="372534"/>
            <a:ext cx="10018713" cy="903110"/>
          </a:xfrm>
        </p:spPr>
        <p:txBody>
          <a:bodyPr>
            <a:normAutofit fontScale="90000"/>
          </a:bodyPr>
          <a:lstStyle/>
          <a:p>
            <a:r>
              <a:rPr lang="en-US" dirty="0">
                <a:solidFill>
                  <a:srgbClr val="0070C0"/>
                </a:solidFill>
                <a:latin typeface="Times New Roman" panose="02020603050405020304" pitchFamily="18" charset="0"/>
                <a:cs typeface="Times New Roman" panose="02020603050405020304" pitchFamily="18" charset="0"/>
              </a:rPr>
              <a:t>Obtained statistical analysis on religion, tribes, hobbies and districts</a:t>
            </a:r>
            <a:br>
              <a:rPr lang="en-US" dirty="0">
                <a:solidFill>
                  <a:srgbClr val="0070C0"/>
                </a:solidFill>
                <a:latin typeface="Times New Roman" panose="02020603050405020304" pitchFamily="18" charset="0"/>
                <a:cs typeface="Times New Roman" panose="02020603050405020304" pitchFamily="18" charset="0"/>
              </a:rPr>
            </a:br>
            <a:endParaRPr lang="en-US" dirty="0"/>
          </a:p>
        </p:txBody>
      </p:sp>
      <p:sp>
        <p:nvSpPr>
          <p:cNvPr id="3" name="Content Placeholder 2"/>
          <p:cNvSpPr>
            <a:spLocks noGrp="1"/>
          </p:cNvSpPr>
          <p:nvPr>
            <p:ph idx="1"/>
          </p:nvPr>
        </p:nvSpPr>
        <p:spPr>
          <a:xfrm>
            <a:off x="1484310" y="1072444"/>
            <a:ext cx="10018713" cy="5339645"/>
          </a:xfrm>
        </p:spPr>
        <p:txBody>
          <a:bodyPr>
            <a:normAutofit fontScale="77500" lnSpcReduction="20000"/>
          </a:bodyPr>
          <a:lstStyle/>
          <a:p>
            <a:pPr marL="0" indent="0">
              <a:buNone/>
            </a:pPr>
            <a:r>
              <a:rPr lang="en-US" sz="2900" b="1" dirty="0">
                <a:latin typeface="Times New Roman" panose="02020603050405020304" pitchFamily="18" charset="0"/>
                <a:cs typeface="Times New Roman" panose="02020603050405020304" pitchFamily="18" charset="0"/>
              </a:rPr>
              <a:t>distribution of religion</a:t>
            </a:r>
            <a:endParaRPr lang="en-US" sz="2900" dirty="0">
              <a:latin typeface="Times New Roman" panose="02020603050405020304" pitchFamily="18" charset="0"/>
              <a:cs typeface="Times New Roman" panose="02020603050405020304" pitchFamily="18" charset="0"/>
            </a:endParaRPr>
          </a:p>
          <a:p>
            <a:pPr marL="0" indent="0">
              <a:buNone/>
            </a:pPr>
            <a:r>
              <a:rPr lang="en-US" sz="2900" dirty="0">
                <a:latin typeface="Times New Roman" panose="02020603050405020304" pitchFamily="18" charset="0"/>
                <a:cs typeface="Times New Roman" panose="02020603050405020304" pitchFamily="18" charset="0"/>
              </a:rPr>
              <a:t> Religion_distribution = groupsummary(Students,"Religion");</a:t>
            </a:r>
          </a:p>
          <a:p>
            <a:pPr marL="0" indent="0">
              <a:buNone/>
            </a:pPr>
            <a:r>
              <a:rPr lang="en-US" sz="2900" dirty="0">
                <a:latin typeface="Times New Roman" panose="02020603050405020304" pitchFamily="18" charset="0"/>
                <a:cs typeface="Times New Roman" panose="02020603050405020304" pitchFamily="18" charset="0"/>
              </a:rPr>
              <a:t>disp(Religion_distribution(:,["Religion","GroupCount"]));</a:t>
            </a:r>
          </a:p>
          <a:p>
            <a:pPr marL="0" indent="0">
              <a:buNone/>
            </a:pPr>
            <a:r>
              <a:rPr lang="en-US" sz="2900" dirty="0">
                <a:latin typeface="Times New Roman" panose="02020603050405020304" pitchFamily="18" charset="0"/>
                <a:cs typeface="Times New Roman" panose="02020603050405020304" pitchFamily="18" charset="0"/>
              </a:rPr>
              <a:t> </a:t>
            </a:r>
            <a:r>
              <a:rPr lang="en-US" sz="2900" b="1" dirty="0">
                <a:latin typeface="Times New Roman" panose="02020603050405020304" pitchFamily="18" charset="0"/>
                <a:cs typeface="Times New Roman" panose="02020603050405020304" pitchFamily="18" charset="0"/>
              </a:rPr>
              <a:t>distribution of tribes</a:t>
            </a:r>
            <a:endParaRPr lang="en-US" sz="2900" dirty="0">
              <a:latin typeface="Times New Roman" panose="02020603050405020304" pitchFamily="18" charset="0"/>
              <a:cs typeface="Times New Roman" panose="02020603050405020304" pitchFamily="18" charset="0"/>
            </a:endParaRPr>
          </a:p>
          <a:p>
            <a:pPr marL="0" indent="0">
              <a:buNone/>
            </a:pPr>
            <a:r>
              <a:rPr lang="en-US" sz="2900" dirty="0">
                <a:latin typeface="Times New Roman" panose="02020603050405020304" pitchFamily="18" charset="0"/>
                <a:cs typeface="Times New Roman" panose="02020603050405020304" pitchFamily="18" charset="0"/>
              </a:rPr>
              <a:t> Tribe_distribution = groupsummary(Students,"Tribe");</a:t>
            </a:r>
          </a:p>
          <a:p>
            <a:pPr marL="0" indent="0">
              <a:buNone/>
            </a:pPr>
            <a:r>
              <a:rPr lang="en-US" sz="2900" dirty="0">
                <a:latin typeface="Times New Roman" panose="02020603050405020304" pitchFamily="18" charset="0"/>
                <a:cs typeface="Times New Roman" panose="02020603050405020304" pitchFamily="18" charset="0"/>
              </a:rPr>
              <a:t>disp(Tribe_distribution(:,["Tribe","GroupCount"]));</a:t>
            </a:r>
          </a:p>
          <a:p>
            <a:pPr marL="0" indent="0">
              <a:buNone/>
            </a:pPr>
            <a:r>
              <a:rPr lang="en-US" sz="2900" dirty="0">
                <a:latin typeface="Times New Roman" panose="02020603050405020304" pitchFamily="18" charset="0"/>
                <a:cs typeface="Times New Roman" panose="02020603050405020304" pitchFamily="18" charset="0"/>
              </a:rPr>
              <a:t> </a:t>
            </a:r>
            <a:r>
              <a:rPr lang="en-US" sz="2900" b="1" dirty="0">
                <a:latin typeface="Times New Roman" panose="02020603050405020304" pitchFamily="18" charset="0"/>
                <a:cs typeface="Times New Roman" panose="02020603050405020304" pitchFamily="18" charset="0"/>
              </a:rPr>
              <a:t>distribution of hobbies</a:t>
            </a:r>
            <a:endParaRPr lang="en-US" sz="2900" dirty="0">
              <a:latin typeface="Times New Roman" panose="02020603050405020304" pitchFamily="18" charset="0"/>
              <a:cs typeface="Times New Roman" panose="02020603050405020304" pitchFamily="18" charset="0"/>
            </a:endParaRPr>
          </a:p>
          <a:p>
            <a:pPr marL="0" indent="0">
              <a:buNone/>
            </a:pPr>
            <a:r>
              <a:rPr lang="en-US" sz="2900" dirty="0">
                <a:latin typeface="Times New Roman" panose="02020603050405020304" pitchFamily="18" charset="0"/>
                <a:cs typeface="Times New Roman" panose="02020603050405020304" pitchFamily="18" charset="0"/>
              </a:rPr>
              <a:t> HObby_distribution = groupsummary(Students,"Hobby");</a:t>
            </a:r>
          </a:p>
          <a:p>
            <a:pPr marL="0" indent="0">
              <a:buNone/>
            </a:pPr>
            <a:r>
              <a:rPr lang="en-US" sz="2900" dirty="0">
                <a:latin typeface="Times New Roman" panose="02020603050405020304" pitchFamily="18" charset="0"/>
                <a:cs typeface="Times New Roman" panose="02020603050405020304" pitchFamily="18" charset="0"/>
              </a:rPr>
              <a:t>disp(HObby_distribution(:,["Hobby","GroupCount"]));</a:t>
            </a:r>
          </a:p>
          <a:p>
            <a:pPr marL="0" indent="0">
              <a:buNone/>
            </a:pPr>
            <a:r>
              <a:rPr lang="en-US" sz="2900" dirty="0">
                <a:latin typeface="Times New Roman" panose="02020603050405020304" pitchFamily="18" charset="0"/>
                <a:cs typeface="Times New Roman" panose="02020603050405020304" pitchFamily="18" charset="0"/>
              </a:rPr>
              <a:t> </a:t>
            </a:r>
            <a:r>
              <a:rPr lang="en-US" sz="2900" b="1" dirty="0">
                <a:latin typeface="Times New Roman" panose="02020603050405020304" pitchFamily="18" charset="0"/>
                <a:cs typeface="Times New Roman" panose="02020603050405020304" pitchFamily="18" charset="0"/>
              </a:rPr>
              <a:t>distribution of districts</a:t>
            </a:r>
            <a:endParaRPr lang="en-US" sz="2900" dirty="0">
              <a:latin typeface="Times New Roman" panose="02020603050405020304" pitchFamily="18" charset="0"/>
              <a:cs typeface="Times New Roman" panose="02020603050405020304" pitchFamily="18" charset="0"/>
            </a:endParaRPr>
          </a:p>
          <a:p>
            <a:pPr marL="0" indent="0">
              <a:buNone/>
            </a:pPr>
            <a:r>
              <a:rPr lang="en-US" sz="2900" dirty="0">
                <a:latin typeface="Times New Roman" panose="02020603050405020304" pitchFamily="18" charset="0"/>
                <a:cs typeface="Times New Roman" panose="02020603050405020304" pitchFamily="18" charset="0"/>
              </a:rPr>
              <a:t> District_distribution = groupsummary(Students,"District");</a:t>
            </a:r>
          </a:p>
          <a:p>
            <a:pPr marL="0" indent="0">
              <a:buNone/>
            </a:pPr>
            <a:r>
              <a:rPr lang="en-US" sz="2900" dirty="0">
                <a:latin typeface="Times New Roman" panose="02020603050405020304" pitchFamily="18" charset="0"/>
                <a:cs typeface="Times New Roman" panose="02020603050405020304" pitchFamily="18" charset="0"/>
              </a:rPr>
              <a:t>disp(District_distribution(:,["District","GroupCount"]));</a:t>
            </a:r>
          </a:p>
          <a:p>
            <a:pPr marL="0" indent="0">
              <a:buNone/>
            </a:pPr>
            <a:endParaRPr lang="en-US" dirty="0"/>
          </a:p>
        </p:txBody>
      </p:sp>
    </p:spTree>
    <p:extLst>
      <p:ext uri="{BB962C8B-B14F-4D97-AF65-F5344CB8AC3E}">
        <p14:creationId xmlns:p14="http://schemas.microsoft.com/office/powerpoint/2010/main" val="41949483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70667" y="685800"/>
            <a:ext cx="9132357" cy="217311"/>
          </a:xfrm>
        </p:spPr>
        <p:txBody>
          <a:bodyPr>
            <a:normAutofit fontScale="90000"/>
          </a:bodyPr>
          <a:lstStyle/>
          <a:p>
            <a:r>
              <a:rPr lang="en-US" dirty="0">
                <a:solidFill>
                  <a:srgbClr val="0070C0"/>
                </a:solidFill>
                <a:latin typeface="Times New Roman" panose="02020603050405020304" pitchFamily="18" charset="0"/>
                <a:cs typeface="Times New Roman" panose="02020603050405020304" pitchFamily="18" charset="0"/>
              </a:rPr>
              <a:t>Obtained statistics (mode, mean, standard deviation, maximum and minimum values)</a:t>
            </a:r>
            <a:br>
              <a:rPr lang="en-US" dirty="0">
                <a:solidFill>
                  <a:srgbClr val="0070C0"/>
                </a:solidFill>
                <a:latin typeface="Times New Roman" panose="02020603050405020304" pitchFamily="18" charset="0"/>
                <a:cs typeface="Times New Roman" panose="02020603050405020304" pitchFamily="18" charset="0"/>
              </a:rPr>
            </a:br>
            <a:endParaRPr lang="en-US" dirty="0"/>
          </a:p>
        </p:txBody>
      </p:sp>
      <p:sp>
        <p:nvSpPr>
          <p:cNvPr id="3" name="Content Placeholder 2"/>
          <p:cNvSpPr>
            <a:spLocks noGrp="1"/>
          </p:cNvSpPr>
          <p:nvPr>
            <p:ph idx="1"/>
          </p:nvPr>
        </p:nvSpPr>
        <p:spPr>
          <a:xfrm>
            <a:off x="1484310" y="1207912"/>
            <a:ext cx="10323868" cy="5497688"/>
          </a:xfrm>
        </p:spPr>
        <p:txBody>
          <a:bodyPr>
            <a:normAutofit fontScale="25000" lnSpcReduction="20000"/>
          </a:bodyPr>
          <a:lstStyle/>
          <a:p>
            <a:pPr marL="0" lvl="0" indent="0">
              <a:buNone/>
            </a:pPr>
            <a:r>
              <a:rPr lang="en-US" sz="4800" dirty="0">
                <a:solidFill>
                  <a:srgbClr val="0070C0"/>
                </a:solidFill>
                <a:latin typeface="Times New Roman" panose="02020603050405020304" pitchFamily="18" charset="0"/>
                <a:cs typeface="Times New Roman" panose="02020603050405020304" pitchFamily="18" charset="0"/>
              </a:rPr>
              <a:t>fprintf("mean Age: %.2f\n",mean(Students.Age));</a:t>
            </a:r>
          </a:p>
          <a:p>
            <a:pPr marL="0" lvl="0" indent="0">
              <a:buNone/>
            </a:pPr>
            <a:r>
              <a:rPr lang="en-US" sz="4800" dirty="0">
                <a:solidFill>
                  <a:srgbClr val="0070C0"/>
                </a:solidFill>
                <a:latin typeface="Times New Roman" panose="02020603050405020304" pitchFamily="18" charset="0"/>
                <a:cs typeface="Times New Roman" panose="02020603050405020304" pitchFamily="18" charset="0"/>
              </a:rPr>
              <a:t>fprintf("median Age: %.2f/n",median(Students.Age));</a:t>
            </a:r>
          </a:p>
          <a:p>
            <a:pPr marL="0" lvl="0" indent="0">
              <a:buNone/>
            </a:pPr>
            <a:r>
              <a:rPr lang="en-US" sz="4800" dirty="0">
                <a:solidFill>
                  <a:srgbClr val="0070C0"/>
                </a:solidFill>
                <a:latin typeface="Times New Roman" panose="02020603050405020304" pitchFamily="18" charset="0"/>
                <a:cs typeface="Times New Roman" panose="02020603050405020304" pitchFamily="18" charset="0"/>
              </a:rPr>
              <a:t>fprintf("modal Age: %.2f/n",mode(Students.Age));</a:t>
            </a:r>
          </a:p>
          <a:p>
            <a:pPr marL="0" lvl="0" indent="0">
              <a:buNone/>
            </a:pPr>
            <a:r>
              <a:rPr lang="en-US" sz="4800" dirty="0">
                <a:solidFill>
                  <a:srgbClr val="0070C0"/>
                </a:solidFill>
                <a:latin typeface="Times New Roman" panose="02020603050405020304" pitchFamily="18" charset="0"/>
                <a:cs typeface="Times New Roman" panose="02020603050405020304" pitchFamily="18" charset="0"/>
              </a:rPr>
              <a:t>fprintf("standard dviation Age: %.2f/n",std(Students.Age));</a:t>
            </a:r>
          </a:p>
          <a:p>
            <a:pPr marL="0" lvl="0" indent="0">
              <a:buNone/>
            </a:pPr>
            <a:r>
              <a:rPr lang="en-US" sz="4800" dirty="0">
                <a:solidFill>
                  <a:srgbClr val="0070C0"/>
                </a:solidFill>
                <a:latin typeface="Times New Roman" panose="02020603050405020304" pitchFamily="18" charset="0"/>
                <a:cs typeface="Times New Roman" panose="02020603050405020304" pitchFamily="18" charset="0"/>
              </a:rPr>
              <a:t>fprintf("minimum Age: %d/n",min(Students.Age));</a:t>
            </a:r>
          </a:p>
          <a:p>
            <a:pPr marL="0" lvl="0" indent="0">
              <a:buNone/>
            </a:pPr>
            <a:r>
              <a:rPr lang="en-US" sz="4800" dirty="0">
                <a:solidFill>
                  <a:srgbClr val="0070C0"/>
                </a:solidFill>
                <a:latin typeface="Times New Roman" panose="02020603050405020304" pitchFamily="18" charset="0"/>
                <a:cs typeface="Times New Roman" panose="02020603050405020304" pitchFamily="18" charset="0"/>
              </a:rPr>
              <a:t>fprintf("maximum Age: %d/n",max(Students.Age))</a:t>
            </a:r>
          </a:p>
          <a:p>
            <a:pPr marL="0" lvl="0" indent="0">
              <a:buNone/>
            </a:pPr>
            <a:r>
              <a:rPr lang="en-US" sz="4800" b="1" dirty="0">
                <a:solidFill>
                  <a:srgbClr val="0070C0"/>
                </a:solidFill>
                <a:latin typeface="Times New Roman" panose="02020603050405020304" pitchFamily="18" charset="0"/>
                <a:cs typeface="Times New Roman" panose="02020603050405020304" pitchFamily="18" charset="0"/>
              </a:rPr>
              <a:t> statistics on marks</a:t>
            </a:r>
            <a:endParaRPr lang="en-US" sz="4800" dirty="0">
              <a:solidFill>
                <a:srgbClr val="0070C0"/>
              </a:solidFill>
              <a:latin typeface="Times New Roman" panose="02020603050405020304" pitchFamily="18" charset="0"/>
              <a:cs typeface="Times New Roman" panose="02020603050405020304" pitchFamily="18" charset="0"/>
            </a:endParaRPr>
          </a:p>
          <a:p>
            <a:pPr marL="0" lvl="0" indent="0">
              <a:buNone/>
            </a:pPr>
            <a:r>
              <a:rPr lang="en-US" sz="4800" dirty="0">
                <a:solidFill>
                  <a:srgbClr val="0070C0"/>
                </a:solidFill>
                <a:latin typeface="Times New Roman" panose="02020603050405020304" pitchFamily="18" charset="0"/>
                <a:cs typeface="Times New Roman" panose="02020603050405020304" pitchFamily="18" charset="0"/>
              </a:rPr>
              <a:t>fprintf("mean mark scored: %.2f\n",mean(Students.MarksScored));</a:t>
            </a:r>
          </a:p>
          <a:p>
            <a:pPr marL="0" lvl="0" indent="0">
              <a:buNone/>
            </a:pPr>
            <a:r>
              <a:rPr lang="en-US" sz="4800" dirty="0">
                <a:solidFill>
                  <a:srgbClr val="0070C0"/>
                </a:solidFill>
                <a:latin typeface="Times New Roman" panose="02020603050405020304" pitchFamily="18" charset="0"/>
                <a:cs typeface="Times New Roman" panose="02020603050405020304" pitchFamily="18" charset="0"/>
              </a:rPr>
              <a:t>fprintf("median mark scored: %.2f\n",median(Students.MarksScored));</a:t>
            </a:r>
          </a:p>
          <a:p>
            <a:pPr marL="0" lvl="0" indent="0">
              <a:buNone/>
            </a:pPr>
            <a:r>
              <a:rPr lang="en-US" sz="4800" dirty="0">
                <a:solidFill>
                  <a:srgbClr val="0070C0"/>
                </a:solidFill>
                <a:latin typeface="Times New Roman" panose="02020603050405020304" pitchFamily="18" charset="0"/>
                <a:cs typeface="Times New Roman" panose="02020603050405020304" pitchFamily="18" charset="0"/>
              </a:rPr>
              <a:t>fprintf("modal mark scored: %.2f\n",mode(Students.MarksScored));</a:t>
            </a:r>
          </a:p>
          <a:p>
            <a:pPr marL="0" lvl="0" indent="0">
              <a:buNone/>
            </a:pPr>
            <a:r>
              <a:rPr lang="en-US" sz="4800" dirty="0">
                <a:solidFill>
                  <a:srgbClr val="0070C0"/>
                </a:solidFill>
                <a:latin typeface="Times New Roman" panose="02020603050405020304" pitchFamily="18" charset="0"/>
                <a:cs typeface="Times New Roman" panose="02020603050405020304" pitchFamily="18" charset="0"/>
              </a:rPr>
              <a:t>fprintf("standard deviation mark scored: %.2f\n",mean(Students.MarksScored));</a:t>
            </a:r>
          </a:p>
          <a:p>
            <a:pPr marL="0" lvl="0" indent="0">
              <a:buNone/>
            </a:pPr>
            <a:r>
              <a:rPr lang="en-US" sz="4800" dirty="0">
                <a:solidFill>
                  <a:srgbClr val="0070C0"/>
                </a:solidFill>
                <a:latin typeface="Times New Roman" panose="02020603050405020304" pitchFamily="18" charset="0"/>
                <a:cs typeface="Times New Roman" panose="02020603050405020304" pitchFamily="18" charset="0"/>
              </a:rPr>
              <a:t>fprintf("maximum mark scored: %.d\n",max(Students.MarksScored));</a:t>
            </a:r>
          </a:p>
          <a:p>
            <a:pPr marL="0" lvl="0" indent="0">
              <a:buNone/>
            </a:pPr>
            <a:r>
              <a:rPr lang="en-US" sz="4800" dirty="0">
                <a:solidFill>
                  <a:srgbClr val="0070C0"/>
                </a:solidFill>
                <a:latin typeface="Times New Roman" panose="02020603050405020304" pitchFamily="18" charset="0"/>
                <a:cs typeface="Times New Roman" panose="02020603050405020304" pitchFamily="18" charset="0"/>
              </a:rPr>
              <a:t>fprintf("minimum mark scored: %.d\n",min(Students.MarksScored));</a:t>
            </a:r>
          </a:p>
          <a:p>
            <a:pPr marL="0" lvl="0" indent="0">
              <a:buNone/>
            </a:pPr>
            <a:r>
              <a:rPr lang="en-US" sz="4800" dirty="0">
                <a:solidFill>
                  <a:srgbClr val="0070C0"/>
                </a:solidFill>
                <a:latin typeface="Times New Roman" panose="02020603050405020304" pitchFamily="18" charset="0"/>
                <a:cs typeface="Times New Roman" panose="02020603050405020304" pitchFamily="18" charset="0"/>
              </a:rPr>
              <a:t> </a:t>
            </a:r>
            <a:r>
              <a:rPr lang="en-US" sz="4800" b="1" dirty="0">
                <a:solidFill>
                  <a:srgbClr val="0070C0"/>
                </a:solidFill>
                <a:latin typeface="Times New Roman" panose="02020603050405020304" pitchFamily="18" charset="0"/>
                <a:cs typeface="Times New Roman" panose="02020603050405020304" pitchFamily="18" charset="0"/>
              </a:rPr>
              <a:t>statistic on income level</a:t>
            </a:r>
            <a:endParaRPr lang="en-US" sz="4800" dirty="0">
              <a:solidFill>
                <a:srgbClr val="0070C0"/>
              </a:solidFill>
              <a:latin typeface="Times New Roman" panose="02020603050405020304" pitchFamily="18" charset="0"/>
              <a:cs typeface="Times New Roman" panose="02020603050405020304" pitchFamily="18" charset="0"/>
            </a:endParaRPr>
          </a:p>
          <a:p>
            <a:pPr marL="0" lvl="0" indent="0">
              <a:buNone/>
            </a:pPr>
            <a:r>
              <a:rPr lang="en-US" sz="4800" dirty="0">
                <a:solidFill>
                  <a:srgbClr val="0070C0"/>
                </a:solidFill>
                <a:latin typeface="Times New Roman" panose="02020603050405020304" pitchFamily="18" charset="0"/>
                <a:cs typeface="Times New Roman" panose="02020603050405020304" pitchFamily="18" charset="0"/>
              </a:rPr>
              <a:t> fprintf("mean income level: %.2f\n",mean(Students.IncomeLevel));</a:t>
            </a:r>
          </a:p>
          <a:p>
            <a:pPr marL="0" lvl="0" indent="0">
              <a:buNone/>
            </a:pPr>
            <a:r>
              <a:rPr lang="en-US" sz="4800" dirty="0">
                <a:solidFill>
                  <a:srgbClr val="0070C0"/>
                </a:solidFill>
                <a:latin typeface="Times New Roman" panose="02020603050405020304" pitchFamily="18" charset="0"/>
                <a:cs typeface="Times New Roman" panose="02020603050405020304" pitchFamily="18" charset="0"/>
              </a:rPr>
              <a:t>fprintf("median income level: %.2f\n",median(Students.IncomeLevel));</a:t>
            </a:r>
          </a:p>
          <a:p>
            <a:pPr marL="0" lvl="0" indent="0">
              <a:buNone/>
            </a:pPr>
            <a:r>
              <a:rPr lang="en-US" sz="4800" dirty="0">
                <a:solidFill>
                  <a:srgbClr val="0070C0"/>
                </a:solidFill>
                <a:latin typeface="Times New Roman" panose="02020603050405020304" pitchFamily="18" charset="0"/>
                <a:cs typeface="Times New Roman" panose="02020603050405020304" pitchFamily="18" charset="0"/>
              </a:rPr>
              <a:t>fprintf("modal income level: %.2f\n",mode(Students.IncomeLevel));</a:t>
            </a:r>
          </a:p>
          <a:p>
            <a:pPr marL="0" lvl="0" indent="0">
              <a:buNone/>
            </a:pPr>
            <a:r>
              <a:rPr lang="en-US" sz="4800" dirty="0">
                <a:solidFill>
                  <a:srgbClr val="0070C0"/>
                </a:solidFill>
                <a:latin typeface="Times New Roman" panose="02020603050405020304" pitchFamily="18" charset="0"/>
                <a:cs typeface="Times New Roman" panose="02020603050405020304" pitchFamily="18" charset="0"/>
              </a:rPr>
              <a:t>fprintf("standard deviation income level: %.2f\n",std(Students.IncomeLevel));</a:t>
            </a:r>
          </a:p>
          <a:p>
            <a:pPr marL="0" lvl="0" indent="0">
              <a:buNone/>
            </a:pPr>
            <a:r>
              <a:rPr lang="en-US" sz="4800" dirty="0">
                <a:solidFill>
                  <a:srgbClr val="0070C0"/>
                </a:solidFill>
                <a:latin typeface="Times New Roman" panose="02020603050405020304" pitchFamily="18" charset="0"/>
                <a:cs typeface="Times New Roman" panose="02020603050405020304" pitchFamily="18" charset="0"/>
              </a:rPr>
              <a:t>fprintf("maximum income level: %.d\n",max(Students.IncomeLevel));</a:t>
            </a:r>
          </a:p>
          <a:p>
            <a:pPr marL="0" lvl="0" indent="0">
              <a:buNone/>
            </a:pPr>
            <a:r>
              <a:rPr lang="en-US" sz="4800" dirty="0">
                <a:solidFill>
                  <a:srgbClr val="0070C0"/>
                </a:solidFill>
                <a:latin typeface="Times New Roman" panose="02020603050405020304" pitchFamily="18" charset="0"/>
                <a:cs typeface="Times New Roman" panose="02020603050405020304" pitchFamily="18" charset="0"/>
              </a:rPr>
              <a:t>fprintf("minimum income level: %.d\n",min(Students.IncomeLevel));</a:t>
            </a:r>
          </a:p>
          <a:p>
            <a:pPr lvl="0"/>
            <a:r>
              <a:rPr lang="en-US" dirty="0"/>
              <a:t> </a:t>
            </a:r>
          </a:p>
          <a:p>
            <a:pPr marL="0" indent="0">
              <a:buNone/>
            </a:pPr>
            <a:endParaRPr lang="en-US" dirty="0"/>
          </a:p>
        </p:txBody>
      </p:sp>
    </p:spTree>
    <p:extLst>
      <p:ext uri="{BB962C8B-B14F-4D97-AF65-F5344CB8AC3E}">
        <p14:creationId xmlns:p14="http://schemas.microsoft.com/office/powerpoint/2010/main" val="4807009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a:solidFill>
                  <a:srgbClr val="0070C0"/>
                </a:solidFill>
                <a:latin typeface="Times New Roman" panose="02020603050405020304" pitchFamily="18" charset="0"/>
                <a:cs typeface="Times New Roman" panose="02020603050405020304" pitchFamily="18" charset="0"/>
              </a:rPr>
              <a:t>VISUALIAZATION OF DATA</a:t>
            </a:r>
          </a:p>
        </p:txBody>
      </p:sp>
    </p:spTree>
    <p:extLst>
      <p:ext uri="{BB962C8B-B14F-4D97-AF65-F5344CB8AC3E}">
        <p14:creationId xmlns:p14="http://schemas.microsoft.com/office/powerpoint/2010/main" val="11691322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1422" y="925689"/>
            <a:ext cx="4967110" cy="372533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24510" y="925689"/>
            <a:ext cx="4859865" cy="364489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6795910" y="4662527"/>
            <a:ext cx="5317067" cy="2041200"/>
          </a:xfrm>
          <a:prstGeom prst="rect">
            <a:avLst/>
          </a:prstGeom>
        </p:spPr>
        <p:txBody>
          <a:bodyPr wrap="square">
            <a:spAutoFit/>
          </a:bodyPr>
          <a:lstStyle/>
          <a:p>
            <a:pPr marL="95885" marR="0" indent="5715">
              <a:lnSpc>
                <a:spcPts val="1295"/>
              </a:lnSpc>
              <a:spcBef>
                <a:spcPts val="0"/>
              </a:spcBef>
              <a:spcAft>
                <a:spcPts val="1200"/>
              </a:spcAft>
            </a:pPr>
            <a:r>
              <a:rPr lang="en-US" b="1" kern="0"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relationship between income level and marksscored</a:t>
            </a:r>
            <a:endParaRPr lang="en-US" sz="2400" kern="100"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endParaRPr>
          </a:p>
          <a:p>
            <a:pPr marL="95885" marR="0" indent="5715">
              <a:lnSpc>
                <a:spcPts val="1295"/>
              </a:lnSpc>
              <a:spcBef>
                <a:spcPts val="0"/>
              </a:spcBef>
              <a:spcAft>
                <a:spcPts val="1200"/>
              </a:spcAft>
            </a:pPr>
            <a:r>
              <a:rPr lang="en-US" kern="0"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 plot(IncomeLevel,MarksScored,"b*");</a:t>
            </a:r>
            <a:endParaRPr lang="en-US" sz="2400" kern="100"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endParaRPr>
          </a:p>
          <a:p>
            <a:pPr marL="95885" marR="0" indent="5715">
              <a:lnSpc>
                <a:spcPts val="1295"/>
              </a:lnSpc>
              <a:spcBef>
                <a:spcPts val="0"/>
              </a:spcBef>
              <a:spcAft>
                <a:spcPts val="1200"/>
              </a:spcAft>
            </a:pPr>
            <a:r>
              <a:rPr lang="en-US" kern="0"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xlabel("student income level");</a:t>
            </a:r>
            <a:endParaRPr lang="en-US" sz="2400" kern="100"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endParaRPr>
          </a:p>
          <a:p>
            <a:pPr marL="95885" marR="0" indent="5715">
              <a:lnSpc>
                <a:spcPts val="1295"/>
              </a:lnSpc>
              <a:spcBef>
                <a:spcPts val="0"/>
              </a:spcBef>
              <a:spcAft>
                <a:spcPts val="1200"/>
              </a:spcAft>
            </a:pPr>
            <a:r>
              <a:rPr lang="en-US" kern="0"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ylabel("mark scored by student");</a:t>
            </a:r>
            <a:endParaRPr lang="en-US" sz="2400" kern="100"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endParaRPr>
          </a:p>
          <a:p>
            <a:pPr marL="95885" marR="0" indent="5715">
              <a:lnSpc>
                <a:spcPts val="1295"/>
              </a:lnSpc>
              <a:spcBef>
                <a:spcPts val="0"/>
              </a:spcBef>
              <a:spcAft>
                <a:spcPts val="1200"/>
              </a:spcAft>
            </a:pPr>
            <a:r>
              <a:rPr lang="en-US" kern="0"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title("relation between student income level and mark scored by student");</a:t>
            </a:r>
            <a:endParaRPr lang="en-US" sz="2400" kern="100"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endParaRPr>
          </a:p>
          <a:p>
            <a:pPr marL="95885" marR="0" indent="5715">
              <a:lnSpc>
                <a:spcPts val="1295"/>
              </a:lnSpc>
              <a:spcBef>
                <a:spcPts val="0"/>
              </a:spcBef>
              <a:spcAft>
                <a:spcPts val="1200"/>
              </a:spcAft>
            </a:pPr>
            <a:r>
              <a:rPr lang="en-US" kern="0"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grid on;</a:t>
            </a:r>
            <a:endParaRPr lang="en-US" sz="2400" kern="10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5" name="Rectangle 4"/>
          <p:cNvSpPr/>
          <p:nvPr/>
        </p:nvSpPr>
        <p:spPr>
          <a:xfrm>
            <a:off x="1941689" y="4882908"/>
            <a:ext cx="4854221" cy="1600438"/>
          </a:xfrm>
          <a:prstGeom prst="rect">
            <a:avLst/>
          </a:prstGeom>
        </p:spPr>
        <p:txBody>
          <a:bodyPr wrap="square">
            <a:spAutoFit/>
          </a:bodyPr>
          <a:lstStyle/>
          <a:p>
            <a:r>
              <a:rPr lang="en-US" sz="1400" b="1" dirty="0">
                <a:solidFill>
                  <a:srgbClr val="0070C0"/>
                </a:solidFill>
                <a:latin typeface="Times New Roman" panose="02020603050405020304" pitchFamily="18" charset="0"/>
                <a:cs typeface="Times New Roman" panose="02020603050405020304" pitchFamily="18" charset="0"/>
              </a:rPr>
              <a:t>relationship between students' age and year of birth</a:t>
            </a:r>
            <a:endParaRPr lang="en-US" sz="1400" dirty="0">
              <a:solidFill>
                <a:srgbClr val="0070C0"/>
              </a:solidFill>
              <a:latin typeface="Times New Roman" panose="02020603050405020304" pitchFamily="18" charset="0"/>
              <a:cs typeface="Times New Roman" panose="02020603050405020304" pitchFamily="18" charset="0"/>
            </a:endParaRPr>
          </a:p>
          <a:p>
            <a:r>
              <a:rPr lang="en-US" sz="1400" dirty="0">
                <a:solidFill>
                  <a:srgbClr val="0070C0"/>
                </a:solidFill>
                <a:latin typeface="Times New Roman" panose="02020603050405020304" pitchFamily="18" charset="0"/>
                <a:cs typeface="Times New Roman" panose="02020603050405020304" pitchFamily="18" charset="0"/>
              </a:rPr>
              <a:t>plot(Age,YearofBirth,"g");</a:t>
            </a:r>
          </a:p>
          <a:p>
            <a:r>
              <a:rPr lang="en-US" sz="1400" dirty="0">
                <a:solidFill>
                  <a:srgbClr val="0070C0"/>
                </a:solidFill>
                <a:latin typeface="Times New Roman" panose="02020603050405020304" pitchFamily="18" charset="0"/>
                <a:cs typeface="Times New Roman" panose="02020603050405020304" pitchFamily="18" charset="0"/>
              </a:rPr>
              <a:t>xlabel("student age");</a:t>
            </a:r>
          </a:p>
          <a:p>
            <a:r>
              <a:rPr lang="en-US" sz="1400" dirty="0">
                <a:solidFill>
                  <a:srgbClr val="0070C0"/>
                </a:solidFill>
                <a:latin typeface="Times New Roman" panose="02020603050405020304" pitchFamily="18" charset="0"/>
                <a:cs typeface="Times New Roman" panose="02020603050405020304" pitchFamily="18" charset="0"/>
              </a:rPr>
              <a:t>ylabel("Year of birth");</a:t>
            </a:r>
          </a:p>
          <a:p>
            <a:r>
              <a:rPr lang="en-US" sz="1400" dirty="0">
                <a:solidFill>
                  <a:srgbClr val="0070C0"/>
                </a:solidFill>
                <a:latin typeface="Times New Roman" panose="02020603050405020304" pitchFamily="18" charset="0"/>
                <a:cs typeface="Times New Roman" panose="02020603050405020304" pitchFamily="18" charset="0"/>
              </a:rPr>
              <a:t>Title</a:t>
            </a:r>
          </a:p>
          <a:p>
            <a:r>
              <a:rPr lang="en-US" sz="1400" dirty="0">
                <a:solidFill>
                  <a:srgbClr val="0070C0"/>
                </a:solidFill>
                <a:latin typeface="Times New Roman" panose="02020603050405020304" pitchFamily="18" charset="0"/>
                <a:cs typeface="Times New Roman" panose="02020603050405020304" pitchFamily="18" charset="0"/>
              </a:rPr>
              <a:t>("Relationship between age and year of birth");</a:t>
            </a:r>
          </a:p>
          <a:p>
            <a:r>
              <a:rPr lang="en-US" sz="1400" dirty="0">
                <a:solidFill>
                  <a:srgbClr val="0070C0"/>
                </a:solidFill>
                <a:latin typeface="Times New Roman" panose="02020603050405020304" pitchFamily="18" charset="0"/>
                <a:cs typeface="Times New Roman" panose="02020603050405020304" pitchFamily="18" charset="0"/>
              </a:rPr>
              <a:t>grid on;</a:t>
            </a:r>
          </a:p>
        </p:txBody>
      </p:sp>
    </p:spTree>
    <p:extLst>
      <p:ext uri="{BB962C8B-B14F-4D97-AF65-F5344CB8AC3E}">
        <p14:creationId xmlns:p14="http://schemas.microsoft.com/office/powerpoint/2010/main" val="21750048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extLst>
              <a:ext uri="{28A0092B-C50C-407E-A947-70E740481C1C}">
                <a14:useLocalDpi xmlns:a14="http://schemas.microsoft.com/office/drawing/2010/main" val="0"/>
              </a:ext>
            </a:extLst>
          </a:blip>
          <a:stretch>
            <a:fillRect/>
          </a:stretch>
        </p:blipFill>
        <p:spPr>
          <a:xfrm>
            <a:off x="1679223" y="446617"/>
            <a:ext cx="4676422" cy="3493205"/>
          </a:xfrm>
          <a:prstGeom prst="rect">
            <a:avLst/>
          </a:prstGeom>
        </p:spPr>
      </p:pic>
      <p:pic>
        <p:nvPicPr>
          <p:cNvPr id="3" name="Picture 2"/>
          <p:cNvPicPr/>
          <p:nvPr/>
        </p:nvPicPr>
        <p:blipFill>
          <a:blip r:embed="rId3">
            <a:extLst>
              <a:ext uri="{28A0092B-C50C-407E-A947-70E740481C1C}">
                <a14:useLocalDpi xmlns:a14="http://schemas.microsoft.com/office/drawing/2010/main" val="0"/>
              </a:ext>
            </a:extLst>
          </a:blip>
          <a:stretch>
            <a:fillRect/>
          </a:stretch>
        </p:blipFill>
        <p:spPr>
          <a:xfrm>
            <a:off x="7013222" y="446617"/>
            <a:ext cx="5032022" cy="4000500"/>
          </a:xfrm>
          <a:prstGeom prst="rect">
            <a:avLst/>
          </a:prstGeom>
        </p:spPr>
      </p:pic>
      <p:sp>
        <p:nvSpPr>
          <p:cNvPr id="4" name="Rectangle 3"/>
          <p:cNvSpPr/>
          <p:nvPr/>
        </p:nvSpPr>
        <p:spPr>
          <a:xfrm>
            <a:off x="7013222" y="4447117"/>
            <a:ext cx="4741333" cy="2195473"/>
          </a:xfrm>
          <a:prstGeom prst="rect">
            <a:avLst/>
          </a:prstGeom>
        </p:spPr>
        <p:txBody>
          <a:bodyPr wrap="square">
            <a:spAutoFit/>
          </a:bodyPr>
          <a:lstStyle/>
          <a:p>
            <a:pPr marL="95885" marR="0" indent="5715">
              <a:lnSpc>
                <a:spcPts val="1295"/>
              </a:lnSpc>
              <a:spcBef>
                <a:spcPts val="0"/>
              </a:spcBef>
              <a:spcAft>
                <a:spcPts val="1200"/>
              </a:spcAft>
            </a:pPr>
            <a:r>
              <a:rPr lang="en-US" b="1" kern="0" dirty="0">
                <a:solidFill>
                  <a:srgbClr val="0070C0"/>
                </a:solidFill>
                <a:latin typeface="Consolas" panose="020B0609020204030204" pitchFamily="49" charset="0"/>
                <a:ea typeface="Times New Roman" panose="02020603050405020304" pitchFamily="18" charset="0"/>
              </a:rPr>
              <a:t>relationship of age and marks scored</a:t>
            </a:r>
            <a:endParaRPr lang="en-US" sz="2400" kern="100" dirty="0">
              <a:solidFill>
                <a:srgbClr val="0070C0"/>
              </a:solidFill>
              <a:latin typeface="Times New Roman" panose="02020603050405020304" pitchFamily="18" charset="0"/>
              <a:ea typeface="Times New Roman" panose="02020603050405020304" pitchFamily="18" charset="0"/>
            </a:endParaRPr>
          </a:p>
          <a:p>
            <a:pPr marL="95885" marR="0" indent="5715">
              <a:lnSpc>
                <a:spcPts val="1295"/>
              </a:lnSpc>
              <a:spcBef>
                <a:spcPts val="0"/>
              </a:spcBef>
              <a:spcAft>
                <a:spcPts val="1200"/>
              </a:spcAft>
            </a:pPr>
            <a:r>
              <a:rPr lang="en-US" kern="0" dirty="0">
                <a:solidFill>
                  <a:srgbClr val="0070C0"/>
                </a:solidFill>
                <a:latin typeface="Consolas" panose="020B0609020204030204" pitchFamily="49" charset="0"/>
                <a:ea typeface="Times New Roman" panose="02020603050405020304" pitchFamily="18" charset="0"/>
              </a:rPr>
              <a:t> </a:t>
            </a:r>
            <a:endParaRPr lang="en-US" sz="2400" kern="100" dirty="0">
              <a:solidFill>
                <a:srgbClr val="0070C0"/>
              </a:solidFill>
              <a:latin typeface="Times New Roman" panose="02020603050405020304" pitchFamily="18" charset="0"/>
              <a:ea typeface="Times New Roman" panose="02020603050405020304" pitchFamily="18" charset="0"/>
            </a:endParaRPr>
          </a:p>
          <a:p>
            <a:pPr marL="95885" marR="0" indent="5715">
              <a:lnSpc>
                <a:spcPts val="1295"/>
              </a:lnSpc>
              <a:spcBef>
                <a:spcPts val="0"/>
              </a:spcBef>
              <a:spcAft>
                <a:spcPts val="1200"/>
              </a:spcAft>
            </a:pPr>
            <a:r>
              <a:rPr lang="en-US" kern="0" dirty="0">
                <a:solidFill>
                  <a:srgbClr val="0070C0"/>
                </a:solidFill>
                <a:latin typeface="Consolas" panose="020B0609020204030204" pitchFamily="49" charset="0"/>
                <a:ea typeface="Times New Roman" panose="02020603050405020304" pitchFamily="18" charset="0"/>
              </a:rPr>
              <a:t>scatter(Age,MarksScored,"magenta");</a:t>
            </a:r>
            <a:endParaRPr lang="en-US" sz="2400" kern="100" dirty="0">
              <a:solidFill>
                <a:srgbClr val="0070C0"/>
              </a:solidFill>
              <a:latin typeface="Times New Roman" panose="02020603050405020304" pitchFamily="18" charset="0"/>
              <a:ea typeface="Times New Roman" panose="02020603050405020304" pitchFamily="18" charset="0"/>
            </a:endParaRPr>
          </a:p>
          <a:p>
            <a:pPr marL="95885" marR="0" indent="5715">
              <a:lnSpc>
                <a:spcPts val="1295"/>
              </a:lnSpc>
              <a:spcBef>
                <a:spcPts val="0"/>
              </a:spcBef>
              <a:spcAft>
                <a:spcPts val="1200"/>
              </a:spcAft>
            </a:pPr>
            <a:r>
              <a:rPr lang="en-US" kern="0" dirty="0">
                <a:solidFill>
                  <a:srgbClr val="0070C0"/>
                </a:solidFill>
                <a:latin typeface="Consolas" panose="020B0609020204030204" pitchFamily="49" charset="0"/>
                <a:ea typeface="Times New Roman" panose="02020603050405020304" pitchFamily="18" charset="0"/>
              </a:rPr>
              <a:t>xlabel("age");</a:t>
            </a:r>
            <a:endParaRPr lang="en-US" sz="2400" kern="100" dirty="0">
              <a:solidFill>
                <a:srgbClr val="0070C0"/>
              </a:solidFill>
              <a:latin typeface="Times New Roman" panose="02020603050405020304" pitchFamily="18" charset="0"/>
              <a:ea typeface="Times New Roman" panose="02020603050405020304" pitchFamily="18" charset="0"/>
            </a:endParaRPr>
          </a:p>
          <a:p>
            <a:pPr marL="95885" marR="0" indent="5715">
              <a:lnSpc>
                <a:spcPts val="1295"/>
              </a:lnSpc>
              <a:spcBef>
                <a:spcPts val="0"/>
              </a:spcBef>
              <a:spcAft>
                <a:spcPts val="1200"/>
              </a:spcAft>
            </a:pPr>
            <a:r>
              <a:rPr lang="en-US" kern="0" dirty="0">
                <a:solidFill>
                  <a:srgbClr val="0070C0"/>
                </a:solidFill>
                <a:latin typeface="Consolas" panose="020B0609020204030204" pitchFamily="49" charset="0"/>
                <a:ea typeface="Times New Roman" panose="02020603050405020304" pitchFamily="18" charset="0"/>
              </a:rPr>
              <a:t>ylabel("mark scored");</a:t>
            </a:r>
            <a:endParaRPr lang="en-US" sz="2400" kern="100" dirty="0">
              <a:solidFill>
                <a:srgbClr val="0070C0"/>
              </a:solidFill>
              <a:latin typeface="Times New Roman" panose="02020603050405020304" pitchFamily="18" charset="0"/>
              <a:ea typeface="Times New Roman" panose="02020603050405020304" pitchFamily="18" charset="0"/>
            </a:endParaRPr>
          </a:p>
          <a:p>
            <a:pPr marL="95885" marR="0" indent="5715">
              <a:lnSpc>
                <a:spcPts val="1295"/>
              </a:lnSpc>
              <a:spcBef>
                <a:spcPts val="0"/>
              </a:spcBef>
              <a:spcAft>
                <a:spcPts val="1200"/>
              </a:spcAft>
            </a:pPr>
            <a:r>
              <a:rPr lang="en-US" kern="0" dirty="0">
                <a:solidFill>
                  <a:srgbClr val="0070C0"/>
                </a:solidFill>
                <a:latin typeface="Consolas" panose="020B0609020204030204" pitchFamily="49" charset="0"/>
                <a:ea typeface="Times New Roman" panose="02020603050405020304" pitchFamily="18" charset="0"/>
              </a:rPr>
              <a:t>title("scatter plot showing age of student against their markes");</a:t>
            </a:r>
            <a:endParaRPr lang="en-US" sz="2400" kern="100" dirty="0">
              <a:solidFill>
                <a:srgbClr val="0070C0"/>
              </a:solidFill>
              <a:effectLst/>
              <a:latin typeface="Times New Roman" panose="02020603050405020304" pitchFamily="18" charset="0"/>
              <a:ea typeface="Times New Roman" panose="02020603050405020304" pitchFamily="18" charset="0"/>
            </a:endParaRPr>
          </a:p>
        </p:txBody>
      </p:sp>
      <p:sp>
        <p:nvSpPr>
          <p:cNvPr id="5" name="Rectangle 4"/>
          <p:cNvSpPr/>
          <p:nvPr/>
        </p:nvSpPr>
        <p:spPr>
          <a:xfrm>
            <a:off x="2091268" y="4293229"/>
            <a:ext cx="4078109" cy="2349361"/>
          </a:xfrm>
          <a:prstGeom prst="rect">
            <a:avLst/>
          </a:prstGeom>
        </p:spPr>
        <p:txBody>
          <a:bodyPr wrap="square">
            <a:spAutoFit/>
          </a:bodyPr>
          <a:lstStyle/>
          <a:p>
            <a:pPr marL="95885" marR="0" indent="5715">
              <a:lnSpc>
                <a:spcPts val="1295"/>
              </a:lnSpc>
              <a:spcBef>
                <a:spcPts val="0"/>
              </a:spcBef>
              <a:spcAft>
                <a:spcPts val="1200"/>
              </a:spcAft>
            </a:pPr>
            <a:r>
              <a:rPr lang="en-US" kern="0" dirty="0">
                <a:solidFill>
                  <a:srgbClr val="212121"/>
                </a:solidFill>
                <a:latin typeface="Consolas" panose="020B0609020204030204" pitchFamily="49" charset="0"/>
                <a:ea typeface="Times New Roman" panose="02020603050405020304" pitchFamily="18" charset="0"/>
              </a:rPr>
              <a:t> </a:t>
            </a:r>
            <a:endParaRPr lang="en-US" sz="1200" kern="100" dirty="0">
              <a:solidFill>
                <a:srgbClr val="0070C0"/>
              </a:solidFill>
              <a:latin typeface="Times New Roman" panose="02020603050405020304" pitchFamily="18" charset="0"/>
              <a:ea typeface="Times New Roman" panose="02020603050405020304" pitchFamily="18" charset="0"/>
            </a:endParaRPr>
          </a:p>
          <a:p>
            <a:pPr marL="95885" marR="0" indent="5715">
              <a:lnSpc>
                <a:spcPts val="1295"/>
              </a:lnSpc>
              <a:spcBef>
                <a:spcPts val="0"/>
              </a:spcBef>
              <a:spcAft>
                <a:spcPts val="1200"/>
              </a:spcAft>
            </a:pPr>
            <a:r>
              <a:rPr lang="en-US" sz="1200" b="1" kern="0" dirty="0">
                <a:solidFill>
                  <a:srgbClr val="0070C0"/>
                </a:solidFill>
                <a:latin typeface="Consolas" panose="020B0609020204030204" pitchFamily="49" charset="0"/>
                <a:ea typeface="Times New Roman" panose="02020603050405020304" pitchFamily="18" charset="0"/>
              </a:rPr>
              <a:t>relationship of markscored and weeks attended</a:t>
            </a:r>
            <a:endParaRPr lang="en-US" sz="1200" kern="100" dirty="0">
              <a:solidFill>
                <a:srgbClr val="0070C0"/>
              </a:solidFill>
              <a:latin typeface="Times New Roman" panose="02020603050405020304" pitchFamily="18" charset="0"/>
              <a:ea typeface="Times New Roman" panose="02020603050405020304" pitchFamily="18" charset="0"/>
            </a:endParaRPr>
          </a:p>
          <a:p>
            <a:pPr marL="95885" marR="0" indent="5715" algn="ctr">
              <a:lnSpc>
                <a:spcPts val="1295"/>
              </a:lnSpc>
              <a:spcBef>
                <a:spcPts val="0"/>
              </a:spcBef>
              <a:spcAft>
                <a:spcPts val="1200"/>
              </a:spcAft>
            </a:pPr>
            <a:r>
              <a:rPr lang="en-US" sz="1200" kern="0" dirty="0">
                <a:solidFill>
                  <a:srgbClr val="0070C0"/>
                </a:solidFill>
                <a:latin typeface="Consolas" panose="020B0609020204030204" pitchFamily="49" charset="0"/>
                <a:ea typeface="Times New Roman" panose="02020603050405020304" pitchFamily="18" charset="0"/>
              </a:rPr>
              <a:t>scatter(MarksScored,WeeksAttended,"r");</a:t>
            </a:r>
            <a:endParaRPr lang="en-US" sz="1200" kern="100" dirty="0">
              <a:solidFill>
                <a:srgbClr val="0070C0"/>
              </a:solidFill>
              <a:latin typeface="Times New Roman" panose="02020603050405020304" pitchFamily="18" charset="0"/>
              <a:ea typeface="Times New Roman" panose="02020603050405020304" pitchFamily="18" charset="0"/>
            </a:endParaRPr>
          </a:p>
          <a:p>
            <a:pPr marL="95885" marR="0" indent="5715">
              <a:lnSpc>
                <a:spcPts val="1295"/>
              </a:lnSpc>
              <a:spcBef>
                <a:spcPts val="0"/>
              </a:spcBef>
              <a:spcAft>
                <a:spcPts val="1200"/>
              </a:spcAft>
            </a:pPr>
            <a:r>
              <a:rPr lang="en-US" sz="1200" kern="0" dirty="0">
                <a:solidFill>
                  <a:srgbClr val="0070C0"/>
                </a:solidFill>
                <a:latin typeface="Consolas" panose="020B0609020204030204" pitchFamily="49" charset="0"/>
                <a:ea typeface="Times New Roman" panose="02020603050405020304" pitchFamily="18" charset="0"/>
              </a:rPr>
              <a:t>xlabel("marks scored");</a:t>
            </a:r>
            <a:endParaRPr lang="en-US" sz="1200" kern="100" dirty="0">
              <a:solidFill>
                <a:srgbClr val="0070C0"/>
              </a:solidFill>
              <a:latin typeface="Times New Roman" panose="02020603050405020304" pitchFamily="18" charset="0"/>
              <a:ea typeface="Times New Roman" panose="02020603050405020304" pitchFamily="18" charset="0"/>
            </a:endParaRPr>
          </a:p>
          <a:p>
            <a:pPr marL="95885" marR="0" indent="5715">
              <a:lnSpc>
                <a:spcPts val="1295"/>
              </a:lnSpc>
              <a:spcBef>
                <a:spcPts val="0"/>
              </a:spcBef>
              <a:spcAft>
                <a:spcPts val="1200"/>
              </a:spcAft>
            </a:pPr>
            <a:r>
              <a:rPr lang="en-US" sz="1200" kern="0" dirty="0">
                <a:solidFill>
                  <a:srgbClr val="0070C0"/>
                </a:solidFill>
                <a:latin typeface="Consolas" panose="020B0609020204030204" pitchFamily="49" charset="0"/>
                <a:ea typeface="Times New Roman" panose="02020603050405020304" pitchFamily="18" charset="0"/>
              </a:rPr>
              <a:t>ylabel("weeks Attended");</a:t>
            </a:r>
            <a:endParaRPr lang="en-US" sz="1200" kern="100" dirty="0">
              <a:solidFill>
                <a:srgbClr val="0070C0"/>
              </a:solidFill>
              <a:latin typeface="Times New Roman" panose="02020603050405020304" pitchFamily="18" charset="0"/>
              <a:ea typeface="Times New Roman" panose="02020603050405020304" pitchFamily="18" charset="0"/>
            </a:endParaRPr>
          </a:p>
          <a:p>
            <a:pPr marL="95885" marR="0" indent="5715">
              <a:lnSpc>
                <a:spcPts val="1295"/>
              </a:lnSpc>
              <a:spcBef>
                <a:spcPts val="0"/>
              </a:spcBef>
              <a:spcAft>
                <a:spcPts val="1200"/>
              </a:spcAft>
            </a:pPr>
            <a:r>
              <a:rPr lang="en-US" sz="1200" kern="0" dirty="0">
                <a:solidFill>
                  <a:srgbClr val="0070C0"/>
                </a:solidFill>
                <a:latin typeface="Consolas" panose="020B0609020204030204" pitchFamily="49" charset="0"/>
                <a:ea typeface="Times New Roman" panose="02020603050405020304" pitchFamily="18" charset="0"/>
              </a:rPr>
              <a:t>title("scatter plot showing relatoinship between weeks attended and marks scored");</a:t>
            </a:r>
            <a:endParaRPr lang="en-US" sz="1200" kern="100" dirty="0">
              <a:solidFill>
                <a:srgbClr val="0070C0"/>
              </a:solidFill>
              <a:latin typeface="Times New Roman" panose="02020603050405020304" pitchFamily="18" charset="0"/>
              <a:ea typeface="Times New Roman" panose="02020603050405020304" pitchFamily="18" charset="0"/>
            </a:endParaRPr>
          </a:p>
          <a:p>
            <a:pPr marL="95885" marR="0" indent="5715">
              <a:lnSpc>
                <a:spcPts val="1295"/>
              </a:lnSpc>
              <a:spcBef>
                <a:spcPts val="0"/>
              </a:spcBef>
              <a:spcAft>
                <a:spcPts val="1200"/>
              </a:spcAft>
            </a:pPr>
            <a:r>
              <a:rPr lang="en-US" sz="1200" kern="0" dirty="0">
                <a:solidFill>
                  <a:srgbClr val="0070C0"/>
                </a:solidFill>
                <a:latin typeface="Consolas" panose="020B0609020204030204" pitchFamily="49" charset="0"/>
                <a:ea typeface="Times New Roman" panose="02020603050405020304" pitchFamily="18" charset="0"/>
              </a:rPr>
              <a:t>grid on;</a:t>
            </a:r>
            <a:endParaRPr lang="en-US" sz="1200" kern="100" dirty="0">
              <a:solidFill>
                <a:srgbClr val="0070C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7837203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extLst>
              <a:ext uri="{28A0092B-C50C-407E-A947-70E740481C1C}">
                <a14:useLocalDpi xmlns:a14="http://schemas.microsoft.com/office/drawing/2010/main" val="0"/>
              </a:ext>
            </a:extLst>
          </a:blip>
          <a:stretch>
            <a:fillRect/>
          </a:stretch>
        </p:blipFill>
        <p:spPr>
          <a:xfrm>
            <a:off x="2553598" y="2210436"/>
            <a:ext cx="5334000" cy="4243917"/>
          </a:xfrm>
          <a:prstGeom prst="rect">
            <a:avLst/>
          </a:prstGeom>
        </p:spPr>
      </p:pic>
      <p:sp>
        <p:nvSpPr>
          <p:cNvPr id="3" name="Rectangle 2"/>
          <p:cNvSpPr/>
          <p:nvPr/>
        </p:nvSpPr>
        <p:spPr>
          <a:xfrm>
            <a:off x="1614311" y="-138925"/>
            <a:ext cx="6096000" cy="2349361"/>
          </a:xfrm>
          <a:prstGeom prst="rect">
            <a:avLst/>
          </a:prstGeom>
        </p:spPr>
        <p:txBody>
          <a:bodyPr>
            <a:spAutoFit/>
          </a:bodyPr>
          <a:lstStyle/>
          <a:p>
            <a:pPr marL="95885" marR="0" indent="5715">
              <a:lnSpc>
                <a:spcPts val="1295"/>
              </a:lnSpc>
              <a:spcBef>
                <a:spcPts val="0"/>
              </a:spcBef>
              <a:spcAft>
                <a:spcPts val="1200"/>
              </a:spcAft>
            </a:pPr>
            <a:r>
              <a:rPr lang="en-US" kern="0" dirty="0">
                <a:solidFill>
                  <a:srgbClr val="212121"/>
                </a:solidFill>
                <a:latin typeface="Consolas" panose="020B0609020204030204" pitchFamily="49" charset="0"/>
                <a:ea typeface="Times New Roman" panose="02020603050405020304" pitchFamily="18" charset="0"/>
              </a:rPr>
              <a:t> </a:t>
            </a:r>
            <a:endParaRPr lang="en-US" sz="2400" kern="100" dirty="0">
              <a:solidFill>
                <a:srgbClr val="0070C0"/>
              </a:solidFill>
              <a:latin typeface="Times New Roman" panose="02020603050405020304" pitchFamily="18" charset="0"/>
              <a:ea typeface="Times New Roman" panose="02020603050405020304" pitchFamily="18" charset="0"/>
            </a:endParaRPr>
          </a:p>
          <a:p>
            <a:pPr marL="95885" marR="0" indent="5715">
              <a:lnSpc>
                <a:spcPts val="1295"/>
              </a:lnSpc>
              <a:spcBef>
                <a:spcPts val="0"/>
              </a:spcBef>
              <a:spcAft>
                <a:spcPts val="1200"/>
              </a:spcAft>
            </a:pPr>
            <a:r>
              <a:rPr lang="en-US" kern="0" dirty="0">
                <a:solidFill>
                  <a:srgbClr val="0070C0"/>
                </a:solidFill>
                <a:latin typeface="Consolas" panose="020B0609020204030204" pitchFamily="49" charset="0"/>
                <a:ea typeface="Times New Roman" panose="02020603050405020304" pitchFamily="18" charset="0"/>
              </a:rPr>
              <a:t>Bar Graph</a:t>
            </a:r>
            <a:endParaRPr lang="en-US" sz="2400" kern="100" dirty="0">
              <a:solidFill>
                <a:srgbClr val="0070C0"/>
              </a:solidFill>
              <a:latin typeface="Times New Roman" panose="02020603050405020304" pitchFamily="18" charset="0"/>
              <a:ea typeface="Times New Roman" panose="02020603050405020304" pitchFamily="18" charset="0"/>
            </a:endParaRPr>
          </a:p>
          <a:p>
            <a:pPr marL="95885" marR="0" indent="5715">
              <a:lnSpc>
                <a:spcPts val="1295"/>
              </a:lnSpc>
              <a:spcBef>
                <a:spcPts val="0"/>
              </a:spcBef>
              <a:spcAft>
                <a:spcPts val="1200"/>
              </a:spcAft>
            </a:pPr>
            <a:r>
              <a:rPr lang="en-US" kern="0" dirty="0">
                <a:solidFill>
                  <a:srgbClr val="0070C0"/>
                </a:solidFill>
                <a:latin typeface="Consolas" panose="020B0609020204030204" pitchFamily="49" charset="0"/>
                <a:ea typeface="Times New Roman" panose="02020603050405020304" pitchFamily="18" charset="0"/>
              </a:rPr>
              <a:t>x = categorical(Name)</a:t>
            </a:r>
            <a:endParaRPr lang="en-US" sz="2400" kern="100" dirty="0">
              <a:solidFill>
                <a:srgbClr val="0070C0"/>
              </a:solidFill>
              <a:latin typeface="Times New Roman" panose="02020603050405020304" pitchFamily="18" charset="0"/>
              <a:ea typeface="Times New Roman" panose="02020603050405020304" pitchFamily="18" charset="0"/>
            </a:endParaRPr>
          </a:p>
          <a:p>
            <a:pPr marL="95885" marR="0" indent="5715">
              <a:lnSpc>
                <a:spcPts val="1295"/>
              </a:lnSpc>
              <a:spcBef>
                <a:spcPts val="0"/>
              </a:spcBef>
              <a:spcAft>
                <a:spcPts val="1200"/>
              </a:spcAft>
            </a:pPr>
            <a:r>
              <a:rPr lang="en-US" kern="0" dirty="0">
                <a:solidFill>
                  <a:srgbClr val="0070C0"/>
                </a:solidFill>
                <a:latin typeface="Consolas" panose="020B0609020204030204" pitchFamily="49" charset="0"/>
                <a:ea typeface="Times New Roman" panose="02020603050405020304" pitchFamily="18" charset="0"/>
              </a:rPr>
              <a:t>y = MarksScored</a:t>
            </a:r>
            <a:endParaRPr lang="en-US" sz="2400" kern="100" dirty="0">
              <a:solidFill>
                <a:srgbClr val="0070C0"/>
              </a:solidFill>
              <a:latin typeface="Times New Roman" panose="02020603050405020304" pitchFamily="18" charset="0"/>
              <a:ea typeface="Times New Roman" panose="02020603050405020304" pitchFamily="18" charset="0"/>
            </a:endParaRPr>
          </a:p>
          <a:p>
            <a:pPr marL="95885" marR="0" indent="5715">
              <a:lnSpc>
                <a:spcPts val="1295"/>
              </a:lnSpc>
              <a:spcBef>
                <a:spcPts val="0"/>
              </a:spcBef>
              <a:spcAft>
                <a:spcPts val="1200"/>
              </a:spcAft>
            </a:pPr>
            <a:r>
              <a:rPr lang="en-US" kern="0" dirty="0">
                <a:solidFill>
                  <a:srgbClr val="0070C0"/>
                </a:solidFill>
                <a:latin typeface="Consolas" panose="020B0609020204030204" pitchFamily="49" charset="0"/>
                <a:ea typeface="Times New Roman" panose="02020603050405020304" pitchFamily="18" charset="0"/>
              </a:rPr>
              <a:t>bar(x,y,"g");</a:t>
            </a:r>
            <a:endParaRPr lang="en-US" sz="2400" kern="100" dirty="0">
              <a:solidFill>
                <a:srgbClr val="0070C0"/>
              </a:solidFill>
              <a:latin typeface="Times New Roman" panose="02020603050405020304" pitchFamily="18" charset="0"/>
              <a:ea typeface="Times New Roman" panose="02020603050405020304" pitchFamily="18" charset="0"/>
            </a:endParaRPr>
          </a:p>
          <a:p>
            <a:pPr marL="95885" marR="0" indent="5715">
              <a:lnSpc>
                <a:spcPts val="1295"/>
              </a:lnSpc>
              <a:spcBef>
                <a:spcPts val="0"/>
              </a:spcBef>
              <a:spcAft>
                <a:spcPts val="1200"/>
              </a:spcAft>
            </a:pPr>
            <a:r>
              <a:rPr lang="en-US" kern="0" dirty="0">
                <a:solidFill>
                  <a:srgbClr val="0070C0"/>
                </a:solidFill>
                <a:latin typeface="Consolas" panose="020B0609020204030204" pitchFamily="49" charset="0"/>
                <a:ea typeface="Times New Roman" panose="02020603050405020304" pitchFamily="18" charset="0"/>
              </a:rPr>
              <a:t>title("A bar graph showing students and their marks");</a:t>
            </a:r>
            <a:endParaRPr lang="en-US" sz="2400" kern="100" dirty="0">
              <a:solidFill>
                <a:srgbClr val="0070C0"/>
              </a:solidFill>
              <a:latin typeface="Times New Roman" panose="02020603050405020304" pitchFamily="18" charset="0"/>
              <a:ea typeface="Times New Roman" panose="02020603050405020304" pitchFamily="18" charset="0"/>
            </a:endParaRPr>
          </a:p>
          <a:p>
            <a:pPr marL="95885" marR="0" indent="5715">
              <a:lnSpc>
                <a:spcPts val="1295"/>
              </a:lnSpc>
              <a:spcBef>
                <a:spcPts val="0"/>
              </a:spcBef>
              <a:spcAft>
                <a:spcPts val="1200"/>
              </a:spcAft>
            </a:pPr>
            <a:r>
              <a:rPr lang="en-US" kern="0" dirty="0">
                <a:solidFill>
                  <a:srgbClr val="0070C0"/>
                </a:solidFill>
                <a:latin typeface="Consolas" panose="020B0609020204030204" pitchFamily="49" charset="0"/>
                <a:ea typeface="Times New Roman" panose="02020603050405020304" pitchFamily="18" charset="0"/>
              </a:rPr>
              <a:t>ylabel("Marks Scored");</a:t>
            </a:r>
            <a:endParaRPr lang="en-US" sz="2400" kern="100" dirty="0">
              <a:solidFill>
                <a:srgbClr val="0070C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04689549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290</TotalTime>
  <Words>2495</Words>
  <Application>Microsoft Office PowerPoint</Application>
  <PresentationFormat>Widescreen</PresentationFormat>
  <Paragraphs>252</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Consolas</vt:lpstr>
      <vt:lpstr>Corbel</vt:lpstr>
      <vt:lpstr>Times New Roman</vt:lpstr>
      <vt:lpstr>Parallax</vt:lpstr>
      <vt:lpstr>Visualization and Analyzing of Data</vt:lpstr>
      <vt:lpstr> Members of  Group 13</vt:lpstr>
      <vt:lpstr>Background of MATLAB</vt:lpstr>
      <vt:lpstr>TASK ONE</vt:lpstr>
      <vt:lpstr>READING THE DATA INTO MATLAB</vt:lpstr>
      <vt:lpstr>CREATING TABLES OF DIFFERENT YEARS  </vt:lpstr>
      <vt:lpstr>CONVERTING THE TABLES INTO STRUCTURAL ARRAYS INTO DIFFERENT WORKSHEETS </vt:lpstr>
      <vt:lpstr> EXPORTING THE DATA TO EXCEL </vt:lpstr>
      <vt:lpstr>ANALYZED DATA THROUGH STATISTICS</vt:lpstr>
      <vt:lpstr>CONT…</vt:lpstr>
      <vt:lpstr>Visualization of Data</vt:lpstr>
      <vt:lpstr>PowerPoint Presentation</vt:lpstr>
      <vt:lpstr>PowerPoint Presentation</vt:lpstr>
      <vt:lpstr>PowerPoint Presentation</vt:lpstr>
      <vt:lpstr>PowerPoint Presentation</vt:lpstr>
      <vt:lpstr>PowerPoint Presentation</vt:lpstr>
      <vt:lpstr>PowerPoint Presentation</vt:lpstr>
      <vt:lpstr>TASK TWO</vt:lpstr>
      <vt:lpstr>Created a table for the data collected </vt:lpstr>
      <vt:lpstr>Obtained statistical analysis on religion, tribes, hobbies and districts </vt:lpstr>
      <vt:lpstr>Obtained statistics (mode, mean, standard deviation, maximum and minimum values) </vt:lpstr>
      <vt:lpstr>VISUALIAZATION OF DATA</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Visualization and Analyzing of Data</dc:title>
  <dc:creator>ANNA GRACE</dc:creator>
  <cp:lastModifiedBy>HP</cp:lastModifiedBy>
  <cp:revision>20</cp:revision>
  <dcterms:created xsi:type="dcterms:W3CDTF">2025-09-23T09:37:45Z</dcterms:created>
  <dcterms:modified xsi:type="dcterms:W3CDTF">2025-09-23T15:23:43Z</dcterms:modified>
</cp:coreProperties>
</file>